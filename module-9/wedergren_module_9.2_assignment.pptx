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0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1" r:id="rId2"/>
    <p:sldId id="2562" r:id="rId3"/>
    <p:sldId id="2563" r:id="rId4"/>
    <p:sldId id="2564" r:id="rId5"/>
    <p:sldId id="2565" r:id="rId6"/>
    <p:sldId id="2566" r:id="rId7"/>
    <p:sldId id="2567" r:id="rId8"/>
    <p:sldId id="2568" r:id="rId9"/>
    <p:sldId id="2569" r:id="rId10"/>
    <p:sldId id="257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6" autoAdjust="0"/>
    <p:restoredTop sz="94660"/>
  </p:normalViewPr>
  <p:slideViewPr>
    <p:cSldViewPr snapToGrid="0">
      <p:cViewPr varScale="1">
        <p:scale>
          <a:sx n="97" d="100"/>
          <a:sy n="97" d="100"/>
        </p:scale>
        <p:origin x="45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image" Target="../media/image20.jpe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image" Target="../media/image20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48C2494-8CE8-4488-A968-18E14348E235}" type="doc">
      <dgm:prSet loTypeId="urn:microsoft.com/office/officeart/2024/3/layout/verticalVisualTextBlock1" loCatId="Picture" qsTypeId="urn:microsoft.com/office/officeart/2005/8/quickstyle/simple4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FD357D45-612D-4B9A-9E89-08CB36608B3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Just Culture Framework</a:t>
          </a:r>
        </a:p>
      </dgm:t>
    </dgm:pt>
    <dgm:pt modelId="{75F57EDB-7B9B-4C7D-958B-7D17BE777831}" type="parTrans" cxnId="{3FF7AE37-F58C-4CBB-8181-E9192B471372}">
      <dgm:prSet/>
      <dgm:spPr/>
      <dgm:t>
        <a:bodyPr/>
        <a:lstStyle/>
        <a:p>
          <a:endParaRPr lang="en-US"/>
        </a:p>
      </dgm:t>
    </dgm:pt>
    <dgm:pt modelId="{2B3AC961-E4BB-4951-8E05-4157661A6CC9}" type="sibTrans" cxnId="{3FF7AE37-F58C-4CBB-8181-E9192B471372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5BDA253D-D0C8-414D-B1CC-6264EEE1B85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Just Culture balances accountability with a non-punitive approach to handling errors and mistakes in organizations.</a:t>
          </a:r>
        </a:p>
      </dgm:t>
    </dgm:pt>
    <dgm:pt modelId="{D1F3826F-18CF-4D9B-A743-2E4EEC0A6EBF}" type="parTrans" cxnId="{B415191B-98FA-493E-B380-4A146FA2713E}">
      <dgm:prSet/>
      <dgm:spPr/>
      <dgm:t>
        <a:bodyPr/>
        <a:lstStyle/>
        <a:p>
          <a:endParaRPr lang="en-US"/>
        </a:p>
      </dgm:t>
    </dgm:pt>
    <dgm:pt modelId="{500A90EC-F495-48CF-AD4E-8CC6F7DADF7D}" type="sibTrans" cxnId="{B415191B-98FA-493E-B380-4A146FA2713E}">
      <dgm:prSet/>
      <dgm:spPr/>
      <dgm:t>
        <a:bodyPr/>
        <a:lstStyle/>
        <a:p>
          <a:endParaRPr lang="en-US"/>
        </a:p>
      </dgm:t>
    </dgm:pt>
    <dgm:pt modelId="{648D514E-664A-49AF-98A0-5698289A723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Safe Reporting Environment</a:t>
          </a:r>
        </a:p>
      </dgm:t>
    </dgm:pt>
    <dgm:pt modelId="{6934672B-B0D8-4B7B-AEDC-792FA1339DC0}" type="parTrans" cxnId="{B8960C63-C523-4C1C-B220-6837B4D877E7}">
      <dgm:prSet/>
      <dgm:spPr/>
      <dgm:t>
        <a:bodyPr/>
        <a:lstStyle/>
        <a:p>
          <a:endParaRPr lang="en-US"/>
        </a:p>
      </dgm:t>
    </dgm:pt>
    <dgm:pt modelId="{0B8E94E2-4622-4A60-9E38-61AD17AB5DDC}" type="sibTrans" cxnId="{B8960C63-C523-4C1C-B220-6837B4D877E7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DC6097AE-9B4C-455F-A555-6BE51E3F96B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 creates a safe environment for employees to report mistakes without fear of punishment or blame.</a:t>
          </a:r>
        </a:p>
      </dgm:t>
    </dgm:pt>
    <dgm:pt modelId="{3D885E89-13C1-47FE-B901-F6BDCB7736F1}" type="parTrans" cxnId="{01DBBB5B-8D82-4842-8EE3-0907D25AB2F2}">
      <dgm:prSet/>
      <dgm:spPr/>
      <dgm:t>
        <a:bodyPr/>
        <a:lstStyle/>
        <a:p>
          <a:endParaRPr lang="en-US"/>
        </a:p>
      </dgm:t>
    </dgm:pt>
    <dgm:pt modelId="{B9A4348E-964C-45F3-99FD-0C40A6DCB95D}" type="sibTrans" cxnId="{01DBBB5B-8D82-4842-8EE3-0907D25AB2F2}">
      <dgm:prSet/>
      <dgm:spPr/>
      <dgm:t>
        <a:bodyPr/>
        <a:lstStyle/>
        <a:p>
          <a:endParaRPr lang="en-US"/>
        </a:p>
      </dgm:t>
    </dgm:pt>
    <dgm:pt modelId="{B6A3D56A-4198-4724-8305-7A2592B8A13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Improved Learning and Safety</a:t>
          </a:r>
        </a:p>
      </dgm:t>
    </dgm:pt>
    <dgm:pt modelId="{317A536B-B097-46DC-AFC4-0D63917E3F7C}" type="parTrans" cxnId="{C9685FE8-14C2-493A-AE42-29022C9C4D8B}">
      <dgm:prSet/>
      <dgm:spPr/>
      <dgm:t>
        <a:bodyPr/>
        <a:lstStyle/>
        <a:p>
          <a:endParaRPr lang="en-US"/>
        </a:p>
      </dgm:t>
    </dgm:pt>
    <dgm:pt modelId="{135A970F-3B9E-4B69-BEF9-B36CA717BBF0}" type="sibTrans" cxnId="{C9685FE8-14C2-493A-AE42-29022C9C4D8B}">
      <dgm:prSet/>
      <dgm:spPr/>
      <dgm:t>
        <a:bodyPr/>
        <a:lstStyle/>
        <a:p>
          <a:endParaRPr lang="en-US"/>
        </a:p>
      </dgm:t>
    </dgm:pt>
    <dgm:pt modelId="{2E8A6B46-AF81-47EB-A725-2BEE60DE03F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Encouraging open reporting leads to better organizational learning and safer operational practices.</a:t>
          </a:r>
        </a:p>
      </dgm:t>
    </dgm:pt>
    <dgm:pt modelId="{5EFE27AF-3BD3-4030-BA14-D5343B32C759}" type="parTrans" cxnId="{9E58972B-BC68-4E7B-9738-868FBC7DA9A8}">
      <dgm:prSet/>
      <dgm:spPr/>
      <dgm:t>
        <a:bodyPr/>
        <a:lstStyle/>
        <a:p>
          <a:endParaRPr lang="en-US"/>
        </a:p>
      </dgm:t>
    </dgm:pt>
    <dgm:pt modelId="{235B570C-F34F-4F78-9E4C-824FCA327597}" type="sibTrans" cxnId="{9E58972B-BC68-4E7B-9738-868FBC7DA9A8}">
      <dgm:prSet/>
      <dgm:spPr/>
      <dgm:t>
        <a:bodyPr/>
        <a:lstStyle/>
        <a:p>
          <a:endParaRPr lang="en-US"/>
        </a:p>
      </dgm:t>
    </dgm:pt>
    <dgm:pt modelId="{9FC7C9E3-7878-4A04-B5DF-31A5AB92A166}" type="pres">
      <dgm:prSet presAssocID="{A48C2494-8CE8-4488-A968-18E14348E235}" presName="Root" presStyleCnt="0">
        <dgm:presLayoutVars>
          <dgm:dir/>
          <dgm:resizeHandles val="exact"/>
        </dgm:presLayoutVars>
      </dgm:prSet>
      <dgm:spPr/>
    </dgm:pt>
    <dgm:pt modelId="{67975428-5AB4-4C14-8D03-3A95849FB43D}" type="pres">
      <dgm:prSet presAssocID="{FD357D45-612D-4B9A-9E89-08CB36608B36}" presName="Composite" presStyleCnt="0"/>
      <dgm:spPr/>
    </dgm:pt>
    <dgm:pt modelId="{2CCA5016-5D85-4D6D-8D9F-CC4F22CFC168}" type="pres">
      <dgm:prSet presAssocID="{FD357D45-612D-4B9A-9E89-08CB36608B36}" presName="Picture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-1"/>
          <a:stretch/>
        </a:blipFill>
      </dgm:spPr>
      <dgm:extLst>
        <a:ext uri="{E40237B7-FDA0-4F09-8148-C483321AD2D9}">
          <dgm14:cNvPr xmlns:dgm14="http://schemas.microsoft.com/office/drawing/2010/diagram" id="0" name="" descr="Concept image to illustrate balancing faith and retirement savings on a balance scale. White background with shadow reflected on white foreground. Cropped to rule of thirds and ready to use."/>
        </a:ext>
      </dgm:extLst>
    </dgm:pt>
    <dgm:pt modelId="{9098137E-8EEE-4F0C-A074-72E91A2DDE64}" type="pres">
      <dgm:prSet presAssocID="{FD357D45-612D-4B9A-9E89-08CB36608B36}" presName="Subtitle" presStyleLbl="revTx" presStyleIdx="0" presStyleCnt="6">
        <dgm:presLayoutVars>
          <dgm:chMax val="0"/>
          <dgm:bulletEnabled/>
        </dgm:presLayoutVars>
      </dgm:prSet>
      <dgm:spPr/>
    </dgm:pt>
    <dgm:pt modelId="{ABFC344B-DC4C-4B97-A870-91EA82F5CCD8}" type="pres">
      <dgm:prSet presAssocID="{FD357D45-612D-4B9A-9E89-08CB36608B36}" presName="Description" presStyleLbl="revTx" presStyleIdx="1" presStyleCnt="6">
        <dgm:presLayoutVars>
          <dgm:bulletEnabled/>
        </dgm:presLayoutVars>
      </dgm:prSet>
      <dgm:spPr/>
    </dgm:pt>
    <dgm:pt modelId="{7CE3EA92-A36A-48EE-994E-AB7AF1E94873}" type="pres">
      <dgm:prSet presAssocID="{2B3AC961-E4BB-4951-8E05-4157661A6CC9}" presName="sibTrans" presStyleLbl="sibTrans2D1" presStyleIdx="0" presStyleCnt="0"/>
      <dgm:spPr/>
    </dgm:pt>
    <dgm:pt modelId="{D5F1C489-D669-4FE9-9103-B6D1B4C0DF6E}" type="pres">
      <dgm:prSet presAssocID="{648D514E-664A-49AF-98A0-5698289A7237}" presName="Composite" presStyleCnt="0"/>
      <dgm:spPr/>
    </dgm:pt>
    <dgm:pt modelId="{F6BF0ABE-AFAB-4DC5-A807-8223F4ED09A1}" type="pres">
      <dgm:prSet presAssocID="{648D514E-664A-49AF-98A0-5698289A7237}" presName="Picture" presStyleLbl="nod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25" r="9128" b="4"/>
          <a:stretch/>
        </a:blipFill>
      </dgm:spPr>
      <dgm:extLst>
        <a:ext uri="{E40237B7-FDA0-4F09-8148-C483321AD2D9}">
          <dgm14:cNvPr xmlns:dgm14="http://schemas.microsoft.com/office/drawing/2010/diagram" id="0" name="" descr="Business team brainstorming"/>
        </a:ext>
      </dgm:extLst>
    </dgm:pt>
    <dgm:pt modelId="{111F1CA0-A13D-42B3-A77F-95BE1F73C8E5}" type="pres">
      <dgm:prSet presAssocID="{648D514E-664A-49AF-98A0-5698289A7237}" presName="Subtitle" presStyleLbl="revTx" presStyleIdx="2" presStyleCnt="6">
        <dgm:presLayoutVars>
          <dgm:chMax val="0"/>
          <dgm:bulletEnabled/>
        </dgm:presLayoutVars>
      </dgm:prSet>
      <dgm:spPr/>
    </dgm:pt>
    <dgm:pt modelId="{29D6F775-4D4A-4895-BCC6-4304AC7ED016}" type="pres">
      <dgm:prSet presAssocID="{648D514E-664A-49AF-98A0-5698289A7237}" presName="Description" presStyleLbl="revTx" presStyleIdx="3" presStyleCnt="6">
        <dgm:presLayoutVars>
          <dgm:bulletEnabled/>
        </dgm:presLayoutVars>
      </dgm:prSet>
      <dgm:spPr/>
    </dgm:pt>
    <dgm:pt modelId="{113B054E-F078-4A87-9369-928EAC14D3A0}" type="pres">
      <dgm:prSet presAssocID="{0B8E94E2-4622-4A60-9E38-61AD17AB5DDC}" presName="sibTrans" presStyleLbl="sibTrans2D1" presStyleIdx="0" presStyleCnt="0"/>
      <dgm:spPr/>
    </dgm:pt>
    <dgm:pt modelId="{8221B7C4-64F9-45C1-BEE2-F745658762D7}" type="pres">
      <dgm:prSet presAssocID="{B6A3D56A-4198-4724-8305-7A2592B8A13B}" presName="Composite" presStyleCnt="0"/>
      <dgm:spPr/>
    </dgm:pt>
    <dgm:pt modelId="{6145D488-9F2D-4753-972A-C32193475BF4}" type="pres">
      <dgm:prSet presAssocID="{B6A3D56A-4198-4724-8305-7A2592B8A13B}" presName="Picture" presStyleLbl="node1" presStyleIdx="2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50" r="8302" b="4"/>
          <a:stretch/>
        </a:blipFill>
      </dgm:spPr>
      <dgm:extLst>
        <a:ext uri="{E40237B7-FDA0-4F09-8148-C483321AD2D9}">
          <dgm14:cNvPr xmlns:dgm14="http://schemas.microsoft.com/office/drawing/2010/diagram" id="0" name="" descr="High angle close-up of young African construction site foreman shaking hands with bearded mature Caucasian project manager holding travel mug."/>
        </a:ext>
      </dgm:extLst>
    </dgm:pt>
    <dgm:pt modelId="{08571837-E51C-464D-9D5E-D203D136F86D}" type="pres">
      <dgm:prSet presAssocID="{B6A3D56A-4198-4724-8305-7A2592B8A13B}" presName="Subtitle" presStyleLbl="revTx" presStyleIdx="4" presStyleCnt="6">
        <dgm:presLayoutVars>
          <dgm:chMax val="0"/>
          <dgm:bulletEnabled/>
        </dgm:presLayoutVars>
      </dgm:prSet>
      <dgm:spPr/>
    </dgm:pt>
    <dgm:pt modelId="{22F96F5C-DCA1-45DF-859B-2107FA97EBF0}" type="pres">
      <dgm:prSet presAssocID="{B6A3D56A-4198-4724-8305-7A2592B8A13B}" presName="Description" presStyleLbl="revTx" presStyleIdx="5" presStyleCnt="6">
        <dgm:presLayoutVars>
          <dgm:bulletEnabled/>
        </dgm:presLayoutVars>
      </dgm:prSet>
      <dgm:spPr/>
    </dgm:pt>
  </dgm:ptLst>
  <dgm:cxnLst>
    <dgm:cxn modelId="{B415191B-98FA-493E-B380-4A146FA2713E}" srcId="{FD357D45-612D-4B9A-9E89-08CB36608B36}" destId="{5BDA253D-D0C8-414D-B1CC-6264EEE1B852}" srcOrd="0" destOrd="0" parTransId="{D1F3826F-18CF-4D9B-A743-2E4EEC0A6EBF}" sibTransId="{500A90EC-F495-48CF-AD4E-8CC6F7DADF7D}"/>
    <dgm:cxn modelId="{9E58972B-BC68-4E7B-9738-868FBC7DA9A8}" srcId="{B6A3D56A-4198-4724-8305-7A2592B8A13B}" destId="{2E8A6B46-AF81-47EB-A725-2BEE60DE03F4}" srcOrd="0" destOrd="0" parTransId="{5EFE27AF-3BD3-4030-BA14-D5343B32C759}" sibTransId="{235B570C-F34F-4F78-9E4C-824FCA327597}"/>
    <dgm:cxn modelId="{3FF7AE37-F58C-4CBB-8181-E9192B471372}" srcId="{A48C2494-8CE8-4488-A968-18E14348E235}" destId="{FD357D45-612D-4B9A-9E89-08CB36608B36}" srcOrd="0" destOrd="0" parTransId="{75F57EDB-7B9B-4C7D-958B-7D17BE777831}" sibTransId="{2B3AC961-E4BB-4951-8E05-4157661A6CC9}"/>
    <dgm:cxn modelId="{3AD56B39-2697-4CA0-A830-19FBD0A2CD52}" type="presOf" srcId="{FD357D45-612D-4B9A-9E89-08CB36608B36}" destId="{9098137E-8EEE-4F0C-A074-72E91A2DDE64}" srcOrd="0" destOrd="0" presId="urn:microsoft.com/office/officeart/2024/3/layout/verticalVisualTextBlock1"/>
    <dgm:cxn modelId="{01DBBB5B-8D82-4842-8EE3-0907D25AB2F2}" srcId="{648D514E-664A-49AF-98A0-5698289A7237}" destId="{DC6097AE-9B4C-455F-A555-6BE51E3F96B9}" srcOrd="0" destOrd="0" parTransId="{3D885E89-13C1-47FE-B901-F6BDCB7736F1}" sibTransId="{B9A4348E-964C-45F3-99FD-0C40A6DCB95D}"/>
    <dgm:cxn modelId="{B8960C63-C523-4C1C-B220-6837B4D877E7}" srcId="{A48C2494-8CE8-4488-A968-18E14348E235}" destId="{648D514E-664A-49AF-98A0-5698289A7237}" srcOrd="1" destOrd="0" parTransId="{6934672B-B0D8-4B7B-AEDC-792FA1339DC0}" sibTransId="{0B8E94E2-4622-4A60-9E38-61AD17AB5DDC}"/>
    <dgm:cxn modelId="{EB941B53-30D7-4132-B067-CF18996FAB32}" type="presOf" srcId="{648D514E-664A-49AF-98A0-5698289A7237}" destId="{111F1CA0-A13D-42B3-A77F-95BE1F73C8E5}" srcOrd="0" destOrd="0" presId="urn:microsoft.com/office/officeart/2024/3/layout/verticalVisualTextBlock1"/>
    <dgm:cxn modelId="{80D7F998-9799-4007-8000-F55B56EF4944}" type="presOf" srcId="{A48C2494-8CE8-4488-A968-18E14348E235}" destId="{9FC7C9E3-7878-4A04-B5DF-31A5AB92A166}" srcOrd="0" destOrd="0" presId="urn:microsoft.com/office/officeart/2024/3/layout/verticalVisualTextBlock1"/>
    <dgm:cxn modelId="{774102B4-094B-4479-A2A7-0B984763AEC2}" type="presOf" srcId="{2B3AC961-E4BB-4951-8E05-4157661A6CC9}" destId="{7CE3EA92-A36A-48EE-994E-AB7AF1E94873}" srcOrd="0" destOrd="0" presId="urn:microsoft.com/office/officeart/2024/3/layout/verticalVisualTextBlock1"/>
    <dgm:cxn modelId="{671FE5B7-0B7E-4A40-94BA-3954E2BEDD46}" type="presOf" srcId="{0B8E94E2-4622-4A60-9E38-61AD17AB5DDC}" destId="{113B054E-F078-4A87-9369-928EAC14D3A0}" srcOrd="0" destOrd="0" presId="urn:microsoft.com/office/officeart/2024/3/layout/verticalVisualTextBlock1"/>
    <dgm:cxn modelId="{B326B0C6-58D1-4729-A2E4-58866F923333}" type="presOf" srcId="{B6A3D56A-4198-4724-8305-7A2592B8A13B}" destId="{08571837-E51C-464D-9D5E-D203D136F86D}" srcOrd="0" destOrd="0" presId="urn:microsoft.com/office/officeart/2024/3/layout/verticalVisualTextBlock1"/>
    <dgm:cxn modelId="{018C7EDA-841D-43BB-A211-ED305B273C1A}" type="presOf" srcId="{DC6097AE-9B4C-455F-A555-6BE51E3F96B9}" destId="{29D6F775-4D4A-4895-BCC6-4304AC7ED016}" srcOrd="0" destOrd="0" presId="urn:microsoft.com/office/officeart/2024/3/layout/verticalVisualTextBlock1"/>
    <dgm:cxn modelId="{0A4BE2E7-D384-4999-8603-48D12D895215}" type="presOf" srcId="{2E8A6B46-AF81-47EB-A725-2BEE60DE03F4}" destId="{22F96F5C-DCA1-45DF-859B-2107FA97EBF0}" srcOrd="0" destOrd="0" presId="urn:microsoft.com/office/officeart/2024/3/layout/verticalVisualTextBlock1"/>
    <dgm:cxn modelId="{C9685FE8-14C2-493A-AE42-29022C9C4D8B}" srcId="{A48C2494-8CE8-4488-A968-18E14348E235}" destId="{B6A3D56A-4198-4724-8305-7A2592B8A13B}" srcOrd="2" destOrd="0" parTransId="{317A536B-B097-46DC-AFC4-0D63917E3F7C}" sibTransId="{135A970F-3B9E-4B69-BEF9-B36CA717BBF0}"/>
    <dgm:cxn modelId="{8F777AFB-B27E-438B-9045-57988095E4D1}" type="presOf" srcId="{5BDA253D-D0C8-414D-B1CC-6264EEE1B852}" destId="{ABFC344B-DC4C-4B97-A870-91EA82F5CCD8}" srcOrd="0" destOrd="0" presId="urn:microsoft.com/office/officeart/2024/3/layout/verticalVisualTextBlock1"/>
    <dgm:cxn modelId="{87ACFAD5-3992-4004-90F0-A8E2F7ECD7BD}" type="presParOf" srcId="{9FC7C9E3-7878-4A04-B5DF-31A5AB92A166}" destId="{67975428-5AB4-4C14-8D03-3A95849FB43D}" srcOrd="0" destOrd="0" presId="urn:microsoft.com/office/officeart/2024/3/layout/verticalVisualTextBlock1"/>
    <dgm:cxn modelId="{CF771F84-2949-4CAF-9BA0-BE58225CE96C}" type="presParOf" srcId="{67975428-5AB4-4C14-8D03-3A95849FB43D}" destId="{2CCA5016-5D85-4D6D-8D9F-CC4F22CFC168}" srcOrd="0" destOrd="0" presId="urn:microsoft.com/office/officeart/2024/3/layout/verticalVisualTextBlock1"/>
    <dgm:cxn modelId="{5720BCDE-CDAA-491B-B152-6C27B86A7E99}" type="presParOf" srcId="{67975428-5AB4-4C14-8D03-3A95849FB43D}" destId="{9098137E-8EEE-4F0C-A074-72E91A2DDE64}" srcOrd="1" destOrd="0" presId="urn:microsoft.com/office/officeart/2024/3/layout/verticalVisualTextBlock1"/>
    <dgm:cxn modelId="{809689FF-9FD6-4FD1-BAA8-9E633503BBEC}" type="presParOf" srcId="{67975428-5AB4-4C14-8D03-3A95849FB43D}" destId="{ABFC344B-DC4C-4B97-A870-91EA82F5CCD8}" srcOrd="2" destOrd="0" presId="urn:microsoft.com/office/officeart/2024/3/layout/verticalVisualTextBlock1"/>
    <dgm:cxn modelId="{008E0CF5-CA39-4D9A-8DC2-75AD4F5BFDFF}" type="presParOf" srcId="{9FC7C9E3-7878-4A04-B5DF-31A5AB92A166}" destId="{7CE3EA92-A36A-48EE-994E-AB7AF1E94873}" srcOrd="1" destOrd="0" presId="urn:microsoft.com/office/officeart/2024/3/layout/verticalVisualTextBlock1"/>
    <dgm:cxn modelId="{0F1A6E52-9F63-4976-B828-EA778457A521}" type="presParOf" srcId="{9FC7C9E3-7878-4A04-B5DF-31A5AB92A166}" destId="{D5F1C489-D669-4FE9-9103-B6D1B4C0DF6E}" srcOrd="2" destOrd="0" presId="urn:microsoft.com/office/officeart/2024/3/layout/verticalVisualTextBlock1"/>
    <dgm:cxn modelId="{CC0B6439-462F-4B16-9ACB-DF6568A6CBA7}" type="presParOf" srcId="{D5F1C489-D669-4FE9-9103-B6D1B4C0DF6E}" destId="{F6BF0ABE-AFAB-4DC5-A807-8223F4ED09A1}" srcOrd="0" destOrd="0" presId="urn:microsoft.com/office/officeart/2024/3/layout/verticalVisualTextBlock1"/>
    <dgm:cxn modelId="{6B72E57A-B9B2-43D8-AA99-E82577B0277C}" type="presParOf" srcId="{D5F1C489-D669-4FE9-9103-B6D1B4C0DF6E}" destId="{111F1CA0-A13D-42B3-A77F-95BE1F73C8E5}" srcOrd="1" destOrd="0" presId="urn:microsoft.com/office/officeart/2024/3/layout/verticalVisualTextBlock1"/>
    <dgm:cxn modelId="{A4A12000-7BB7-46D4-AFAB-076D24D5DC4D}" type="presParOf" srcId="{D5F1C489-D669-4FE9-9103-B6D1B4C0DF6E}" destId="{29D6F775-4D4A-4895-BCC6-4304AC7ED016}" srcOrd="2" destOrd="0" presId="urn:microsoft.com/office/officeart/2024/3/layout/verticalVisualTextBlock1"/>
    <dgm:cxn modelId="{1045DF56-398A-4A2F-931B-75076B746F6D}" type="presParOf" srcId="{9FC7C9E3-7878-4A04-B5DF-31A5AB92A166}" destId="{113B054E-F078-4A87-9369-928EAC14D3A0}" srcOrd="3" destOrd="0" presId="urn:microsoft.com/office/officeart/2024/3/layout/verticalVisualTextBlock1"/>
    <dgm:cxn modelId="{FDD27EF1-112C-4373-93E6-B1AEA3B7A357}" type="presParOf" srcId="{9FC7C9E3-7878-4A04-B5DF-31A5AB92A166}" destId="{8221B7C4-64F9-45C1-BEE2-F745658762D7}" srcOrd="4" destOrd="0" presId="urn:microsoft.com/office/officeart/2024/3/layout/verticalVisualTextBlock1"/>
    <dgm:cxn modelId="{44A31549-2E9C-4D9C-8B4A-3424E4282EF6}" type="presParOf" srcId="{8221B7C4-64F9-45C1-BEE2-F745658762D7}" destId="{6145D488-9F2D-4753-972A-C32193475BF4}" srcOrd="0" destOrd="0" presId="urn:microsoft.com/office/officeart/2024/3/layout/verticalVisualTextBlock1"/>
    <dgm:cxn modelId="{AF4967C4-3242-4F10-903F-57204D2A210B}" type="presParOf" srcId="{8221B7C4-64F9-45C1-BEE2-F745658762D7}" destId="{08571837-E51C-464D-9D5E-D203D136F86D}" srcOrd="1" destOrd="0" presId="urn:microsoft.com/office/officeart/2024/3/layout/verticalVisualTextBlock1"/>
    <dgm:cxn modelId="{48408EC3-1784-41C8-BFB5-C0AF208CA02C}" type="presParOf" srcId="{8221B7C4-64F9-45C1-BEE2-F745658762D7}" destId="{22F96F5C-DCA1-45DF-859B-2107FA97EBF0}" srcOrd="2" destOrd="0" presId="urn:microsoft.com/office/officeart/2024/3/layout/verticalVisualTextBlock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2E048E4-C0A8-4D9C-8CF1-EBEEAC8A7E9B}" type="doc">
      <dgm:prSet loTypeId="urn:microsoft.com/office/officeart/2024/3/layout/hArc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A83F91B-5DA0-47E2-ABCB-435974A1652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Understanding Barriers</a:t>
          </a:r>
        </a:p>
      </dgm:t>
    </dgm:pt>
    <dgm:pt modelId="{465F31E6-F578-436A-BFA4-AE5159634CD3}" type="parTrans" cxnId="{67E83A5F-A55C-4B79-8DD3-A3D207131655}">
      <dgm:prSet/>
      <dgm:spPr/>
      <dgm:t>
        <a:bodyPr/>
        <a:lstStyle/>
        <a:p>
          <a:endParaRPr lang="en-US"/>
        </a:p>
      </dgm:t>
    </dgm:pt>
    <dgm:pt modelId="{F1208FD8-7689-4AA4-90D3-A4895C298B74}" type="sibTrans" cxnId="{67E83A5F-A55C-4B79-8DD3-A3D207131655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2D9BDFDA-C706-41F7-9A9B-6D5802C455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Recognizing and addressing barriers is essential to successfully implement a Just, Learning Culture in organizations.</a:t>
          </a:r>
        </a:p>
      </dgm:t>
    </dgm:pt>
    <dgm:pt modelId="{EB0B0241-F138-4E0D-BE3F-72416C15EF1D}" type="parTrans" cxnId="{8B0CA0B2-3D80-4303-A6E3-62F6A1CD2C64}">
      <dgm:prSet/>
      <dgm:spPr/>
      <dgm:t>
        <a:bodyPr/>
        <a:lstStyle/>
        <a:p>
          <a:endParaRPr lang="en-US"/>
        </a:p>
      </dgm:t>
    </dgm:pt>
    <dgm:pt modelId="{369925D4-82DA-40E8-B5E7-F52EE47AE67D}" type="sibTrans" cxnId="{8B0CA0B2-3D80-4303-A6E3-62F6A1CD2C64}">
      <dgm:prSet/>
      <dgm:spPr/>
      <dgm:t>
        <a:bodyPr/>
        <a:lstStyle/>
        <a:p>
          <a:endParaRPr lang="en-US"/>
        </a:p>
      </dgm:t>
    </dgm:pt>
    <dgm:pt modelId="{A14A0C50-C500-4073-B9E5-DAE331EB852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Committed Leadership</a:t>
          </a:r>
        </a:p>
      </dgm:t>
    </dgm:pt>
    <dgm:pt modelId="{082186C9-304A-464D-B8EE-4518D6781D9D}" type="parTrans" cxnId="{2A2678DC-EC41-48AF-9EAF-AB22BD500068}">
      <dgm:prSet/>
      <dgm:spPr/>
      <dgm:t>
        <a:bodyPr/>
        <a:lstStyle/>
        <a:p>
          <a:endParaRPr lang="en-US"/>
        </a:p>
      </dgm:t>
    </dgm:pt>
    <dgm:pt modelId="{84B087E1-3F4E-4E86-9331-AD0E9519C648}" type="sibTrans" cxnId="{2A2678DC-EC41-48AF-9EAF-AB22BD500068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907E87BA-CE41-4F77-B9C5-867E4B408A6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Strong leadership commitment is crucial to foster a culture focused on safety, transparency, and continuous learning.</a:t>
          </a:r>
        </a:p>
      </dgm:t>
    </dgm:pt>
    <dgm:pt modelId="{74930BCC-35F4-4683-BEC6-A989A6B3DE5D}" type="parTrans" cxnId="{87981C29-686F-422B-BE0E-5C66807D78F5}">
      <dgm:prSet/>
      <dgm:spPr/>
      <dgm:t>
        <a:bodyPr/>
        <a:lstStyle/>
        <a:p>
          <a:endParaRPr lang="en-US"/>
        </a:p>
      </dgm:t>
    </dgm:pt>
    <dgm:pt modelId="{71497935-7089-4590-89C6-811B656E3E67}" type="sibTrans" cxnId="{87981C29-686F-422B-BE0E-5C66807D78F5}">
      <dgm:prSet/>
      <dgm:spPr/>
      <dgm:t>
        <a:bodyPr/>
        <a:lstStyle/>
        <a:p>
          <a:endParaRPr lang="en-US"/>
        </a:p>
      </dgm:t>
    </dgm:pt>
    <dgm:pt modelId="{8946A159-61EC-40B9-88F0-5E1F5739139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Targeted Strategies</a:t>
          </a:r>
        </a:p>
      </dgm:t>
    </dgm:pt>
    <dgm:pt modelId="{54398FA8-B1FE-4E5D-B6A4-17E4B44D3C42}" type="parTrans" cxnId="{4D30FF41-81E9-40C1-8C55-770AC928ADF4}">
      <dgm:prSet/>
      <dgm:spPr/>
      <dgm:t>
        <a:bodyPr/>
        <a:lstStyle/>
        <a:p>
          <a:endParaRPr lang="en-US"/>
        </a:p>
      </dgm:t>
    </dgm:pt>
    <dgm:pt modelId="{EF7FDD6D-A395-4662-92D8-5C7546E0FCD4}" type="sibTrans" cxnId="{4D30FF41-81E9-40C1-8C55-770AC928ADF4}">
      <dgm:prSet/>
      <dgm:spPr/>
      <dgm:t>
        <a:bodyPr/>
        <a:lstStyle/>
        <a:p>
          <a:endParaRPr lang="en-US"/>
        </a:p>
      </dgm:t>
    </dgm:pt>
    <dgm:pt modelId="{D8D5C2ED-11F1-4BC3-8390-0436C7D76C1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Implementing specific strategies helps organizations create an environment that supports learning and accountability.</a:t>
          </a:r>
        </a:p>
      </dgm:t>
    </dgm:pt>
    <dgm:pt modelId="{E4A9144D-2F89-4891-ADB9-FE6B37FFBF73}" type="parTrans" cxnId="{FAD16C86-B27A-440A-8036-F1AC4C2FCEF8}">
      <dgm:prSet/>
      <dgm:spPr/>
      <dgm:t>
        <a:bodyPr/>
        <a:lstStyle/>
        <a:p>
          <a:endParaRPr lang="en-US"/>
        </a:p>
      </dgm:t>
    </dgm:pt>
    <dgm:pt modelId="{F33B508F-2F58-48DE-BE6A-A67637B3788D}" type="sibTrans" cxnId="{FAD16C86-B27A-440A-8036-F1AC4C2FCEF8}">
      <dgm:prSet/>
      <dgm:spPr/>
      <dgm:t>
        <a:bodyPr/>
        <a:lstStyle/>
        <a:p>
          <a:endParaRPr lang="en-US"/>
        </a:p>
      </dgm:t>
    </dgm:pt>
    <dgm:pt modelId="{6E86310D-F30F-4912-B4AB-DE5EDFDA36E9}" type="pres">
      <dgm:prSet presAssocID="{E2E048E4-C0A8-4D9C-8CF1-EBEEAC8A7E9B}" presName="Name0" presStyleCnt="0">
        <dgm:presLayoutVars>
          <dgm:dir/>
          <dgm:resizeHandles val="exact"/>
        </dgm:presLayoutVars>
      </dgm:prSet>
      <dgm:spPr/>
    </dgm:pt>
    <dgm:pt modelId="{FE2CB02A-98D4-4AE2-8A09-BC20A4954DEE}" type="pres">
      <dgm:prSet presAssocID="{9A83F91B-5DA0-47E2-ABCB-435974A1652A}" presName="compNode" presStyleCnt="0"/>
      <dgm:spPr/>
    </dgm:pt>
    <dgm:pt modelId="{BCE4D2A5-AD8B-40AA-BC43-471B3220AA1C}" type="pres">
      <dgm:prSet presAssocID="{9A83F91B-5DA0-47E2-ABCB-435974A1652A}" presName="pictRect" presStyleLbl="revTx" presStyleIdx="0" presStyleCnt="6">
        <dgm:presLayoutVars>
          <dgm:chMax val="0"/>
          <dgm:bulletEnabled/>
        </dgm:presLayoutVars>
      </dgm:prSet>
      <dgm:spPr/>
    </dgm:pt>
    <dgm:pt modelId="{CFBAEB1C-AB64-44E5-B816-ED8621E2AF81}" type="pres">
      <dgm:prSet presAssocID="{9A83F91B-5DA0-47E2-ABCB-435974A1652A}" presName="textRect" presStyleLbl="revTx" presStyleIdx="1" presStyleCnt="6">
        <dgm:presLayoutVars>
          <dgm:bulletEnabled/>
        </dgm:presLayoutVars>
      </dgm:prSet>
      <dgm:spPr/>
    </dgm:pt>
    <dgm:pt modelId="{705617F1-F206-4EC4-B381-91937D1B2EBC}" type="pres">
      <dgm:prSet presAssocID="{F1208FD8-7689-4AA4-90D3-A4895C298B74}" presName="sibTrans" presStyleLbl="sibTrans2D1" presStyleIdx="0" presStyleCnt="0"/>
      <dgm:spPr/>
    </dgm:pt>
    <dgm:pt modelId="{F5D9DAC9-A08E-4902-9A62-CAB6AEBA46BD}" type="pres">
      <dgm:prSet presAssocID="{A14A0C50-C500-4073-B9E5-DAE331EB8529}" presName="compNode" presStyleCnt="0"/>
      <dgm:spPr/>
    </dgm:pt>
    <dgm:pt modelId="{9B5E5609-82AC-4A70-B189-B898689E4390}" type="pres">
      <dgm:prSet presAssocID="{A14A0C50-C500-4073-B9E5-DAE331EB8529}" presName="pictRect" presStyleLbl="revTx" presStyleIdx="2" presStyleCnt="6">
        <dgm:presLayoutVars>
          <dgm:chMax val="0"/>
          <dgm:bulletEnabled/>
        </dgm:presLayoutVars>
      </dgm:prSet>
      <dgm:spPr/>
    </dgm:pt>
    <dgm:pt modelId="{B2824A67-63C9-4CE0-A4B0-3D59A4E34120}" type="pres">
      <dgm:prSet presAssocID="{A14A0C50-C500-4073-B9E5-DAE331EB8529}" presName="textRect" presStyleLbl="revTx" presStyleIdx="3" presStyleCnt="6">
        <dgm:presLayoutVars>
          <dgm:bulletEnabled/>
        </dgm:presLayoutVars>
      </dgm:prSet>
      <dgm:spPr/>
    </dgm:pt>
    <dgm:pt modelId="{7FA9B37C-43FE-4BF3-A705-9DE144711A14}" type="pres">
      <dgm:prSet presAssocID="{84B087E1-3F4E-4E86-9331-AD0E9519C648}" presName="sibTrans" presStyleLbl="sibTrans2D1" presStyleIdx="0" presStyleCnt="0"/>
      <dgm:spPr/>
    </dgm:pt>
    <dgm:pt modelId="{6E808930-8903-47E1-A381-C5D5B7C9E066}" type="pres">
      <dgm:prSet presAssocID="{8946A159-61EC-40B9-88F0-5E1F5739139C}" presName="compNode" presStyleCnt="0"/>
      <dgm:spPr/>
    </dgm:pt>
    <dgm:pt modelId="{8D595C0E-4238-49EB-8D4E-61BC95DA4E1C}" type="pres">
      <dgm:prSet presAssocID="{8946A159-61EC-40B9-88F0-5E1F5739139C}" presName="pictRect" presStyleLbl="revTx" presStyleIdx="4" presStyleCnt="6">
        <dgm:presLayoutVars>
          <dgm:chMax val="0"/>
          <dgm:bulletEnabled/>
        </dgm:presLayoutVars>
      </dgm:prSet>
      <dgm:spPr/>
    </dgm:pt>
    <dgm:pt modelId="{726D8D01-A050-47B7-8228-97774A6ADE57}" type="pres">
      <dgm:prSet presAssocID="{8946A159-61EC-40B9-88F0-5E1F5739139C}" presName="textRect" presStyleLbl="revTx" presStyleIdx="5" presStyleCnt="6">
        <dgm:presLayoutVars>
          <dgm:bulletEnabled/>
        </dgm:presLayoutVars>
      </dgm:prSet>
      <dgm:spPr/>
    </dgm:pt>
  </dgm:ptLst>
  <dgm:cxnLst>
    <dgm:cxn modelId="{90926A05-9EB6-435C-ABA3-303651CB0439}" type="presOf" srcId="{8946A159-61EC-40B9-88F0-5E1F5739139C}" destId="{8D595C0E-4238-49EB-8D4E-61BC95DA4E1C}" srcOrd="0" destOrd="0" presId="urn:microsoft.com/office/officeart/2024/3/layout/hArchList1"/>
    <dgm:cxn modelId="{87981C29-686F-422B-BE0E-5C66807D78F5}" srcId="{A14A0C50-C500-4073-B9E5-DAE331EB8529}" destId="{907E87BA-CE41-4F77-B9C5-867E4B408A64}" srcOrd="0" destOrd="0" parTransId="{74930BCC-35F4-4683-BEC6-A989A6B3DE5D}" sibTransId="{71497935-7089-4590-89C6-811B656E3E67}"/>
    <dgm:cxn modelId="{18C22F2A-88BC-4055-9D10-1852B0450588}" type="presOf" srcId="{E2E048E4-C0A8-4D9C-8CF1-EBEEAC8A7E9B}" destId="{6E86310D-F30F-4912-B4AB-DE5EDFDA36E9}" srcOrd="0" destOrd="0" presId="urn:microsoft.com/office/officeart/2024/3/layout/hArchList1"/>
    <dgm:cxn modelId="{64DD903F-FB8F-44A1-B026-D28B65FEFCCD}" type="presOf" srcId="{A14A0C50-C500-4073-B9E5-DAE331EB8529}" destId="{9B5E5609-82AC-4A70-B189-B898689E4390}" srcOrd="0" destOrd="0" presId="urn:microsoft.com/office/officeart/2024/3/layout/hArchList1"/>
    <dgm:cxn modelId="{67E83A5F-A55C-4B79-8DD3-A3D207131655}" srcId="{E2E048E4-C0A8-4D9C-8CF1-EBEEAC8A7E9B}" destId="{9A83F91B-5DA0-47E2-ABCB-435974A1652A}" srcOrd="0" destOrd="0" parTransId="{465F31E6-F578-436A-BFA4-AE5159634CD3}" sibTransId="{F1208FD8-7689-4AA4-90D3-A4895C298B74}"/>
    <dgm:cxn modelId="{4D30FF41-81E9-40C1-8C55-770AC928ADF4}" srcId="{E2E048E4-C0A8-4D9C-8CF1-EBEEAC8A7E9B}" destId="{8946A159-61EC-40B9-88F0-5E1F5739139C}" srcOrd="2" destOrd="0" parTransId="{54398FA8-B1FE-4E5D-B6A4-17E4B44D3C42}" sibTransId="{EF7FDD6D-A395-4662-92D8-5C7546E0FCD4}"/>
    <dgm:cxn modelId="{B850BA58-DB2F-4FFC-A51F-B9FDE51151F9}" type="presOf" srcId="{907E87BA-CE41-4F77-B9C5-867E4B408A64}" destId="{B2824A67-63C9-4CE0-A4B0-3D59A4E34120}" srcOrd="0" destOrd="0" presId="urn:microsoft.com/office/officeart/2024/3/layout/hArchList1"/>
    <dgm:cxn modelId="{11ED3C7B-DFBD-4BB3-BBCC-ADA2EADE6F22}" type="presOf" srcId="{9A83F91B-5DA0-47E2-ABCB-435974A1652A}" destId="{BCE4D2A5-AD8B-40AA-BC43-471B3220AA1C}" srcOrd="0" destOrd="0" presId="urn:microsoft.com/office/officeart/2024/3/layout/hArchList1"/>
    <dgm:cxn modelId="{FAD16C86-B27A-440A-8036-F1AC4C2FCEF8}" srcId="{8946A159-61EC-40B9-88F0-5E1F5739139C}" destId="{D8D5C2ED-11F1-4BC3-8390-0436C7D76C18}" srcOrd="0" destOrd="0" parTransId="{E4A9144D-2F89-4891-ADB9-FE6B37FFBF73}" sibTransId="{F33B508F-2F58-48DE-BE6A-A67637B3788D}"/>
    <dgm:cxn modelId="{4BF357A5-DACD-451F-81AB-3E640D09B094}" type="presOf" srcId="{2D9BDFDA-C706-41F7-9A9B-6D5802C45530}" destId="{CFBAEB1C-AB64-44E5-B816-ED8621E2AF81}" srcOrd="0" destOrd="0" presId="urn:microsoft.com/office/officeart/2024/3/layout/hArchList1"/>
    <dgm:cxn modelId="{8B0CA0B2-3D80-4303-A6E3-62F6A1CD2C64}" srcId="{9A83F91B-5DA0-47E2-ABCB-435974A1652A}" destId="{2D9BDFDA-C706-41F7-9A9B-6D5802C45530}" srcOrd="0" destOrd="0" parTransId="{EB0B0241-F138-4E0D-BE3F-72416C15EF1D}" sibTransId="{369925D4-82DA-40E8-B5E7-F52EE47AE67D}"/>
    <dgm:cxn modelId="{FB478CBA-CC40-4122-8394-0C37E669927C}" type="presOf" srcId="{D8D5C2ED-11F1-4BC3-8390-0436C7D76C18}" destId="{726D8D01-A050-47B7-8228-97774A6ADE57}" srcOrd="0" destOrd="0" presId="urn:microsoft.com/office/officeart/2024/3/layout/hArchList1"/>
    <dgm:cxn modelId="{2A2678DC-EC41-48AF-9EAF-AB22BD500068}" srcId="{E2E048E4-C0A8-4D9C-8CF1-EBEEAC8A7E9B}" destId="{A14A0C50-C500-4073-B9E5-DAE331EB8529}" srcOrd="1" destOrd="0" parTransId="{082186C9-304A-464D-B8EE-4518D6781D9D}" sibTransId="{84B087E1-3F4E-4E86-9331-AD0E9519C648}"/>
    <dgm:cxn modelId="{39956CDD-AD60-4082-A784-464E2AE32B0E}" type="presOf" srcId="{84B087E1-3F4E-4E86-9331-AD0E9519C648}" destId="{7FA9B37C-43FE-4BF3-A705-9DE144711A14}" srcOrd="0" destOrd="0" presId="urn:microsoft.com/office/officeart/2024/3/layout/hArchList1"/>
    <dgm:cxn modelId="{77BA4BE6-C39C-4759-BB56-16A54D1D26D1}" type="presOf" srcId="{F1208FD8-7689-4AA4-90D3-A4895C298B74}" destId="{705617F1-F206-4EC4-B381-91937D1B2EBC}" srcOrd="0" destOrd="0" presId="urn:microsoft.com/office/officeart/2024/3/layout/hArchList1"/>
    <dgm:cxn modelId="{21331DAB-8AF4-4BA8-9D42-2A80357AEA26}" type="presParOf" srcId="{6E86310D-F30F-4912-B4AB-DE5EDFDA36E9}" destId="{FE2CB02A-98D4-4AE2-8A09-BC20A4954DEE}" srcOrd="0" destOrd="0" presId="urn:microsoft.com/office/officeart/2024/3/layout/hArchList1"/>
    <dgm:cxn modelId="{8EF3F92E-99C6-4508-B3DF-8FFBCE00F4FA}" type="presParOf" srcId="{FE2CB02A-98D4-4AE2-8A09-BC20A4954DEE}" destId="{BCE4D2A5-AD8B-40AA-BC43-471B3220AA1C}" srcOrd="0" destOrd="0" presId="urn:microsoft.com/office/officeart/2024/3/layout/hArchList1"/>
    <dgm:cxn modelId="{868FA5B3-D2C6-420C-B58E-DB2F79BF05AF}" type="presParOf" srcId="{FE2CB02A-98D4-4AE2-8A09-BC20A4954DEE}" destId="{CFBAEB1C-AB64-44E5-B816-ED8621E2AF81}" srcOrd="1" destOrd="0" presId="urn:microsoft.com/office/officeart/2024/3/layout/hArchList1"/>
    <dgm:cxn modelId="{35F8BED5-F7AE-4126-96C6-115433087738}" type="presParOf" srcId="{6E86310D-F30F-4912-B4AB-DE5EDFDA36E9}" destId="{705617F1-F206-4EC4-B381-91937D1B2EBC}" srcOrd="1" destOrd="0" presId="urn:microsoft.com/office/officeart/2024/3/layout/hArchList1"/>
    <dgm:cxn modelId="{90B7AA6D-2A04-4358-B50B-1BDFDF7C6A15}" type="presParOf" srcId="{6E86310D-F30F-4912-B4AB-DE5EDFDA36E9}" destId="{F5D9DAC9-A08E-4902-9A62-CAB6AEBA46BD}" srcOrd="2" destOrd="0" presId="urn:microsoft.com/office/officeart/2024/3/layout/hArchList1"/>
    <dgm:cxn modelId="{17ED131C-D5DF-4AF2-B42D-69EAD65AC36B}" type="presParOf" srcId="{F5D9DAC9-A08E-4902-9A62-CAB6AEBA46BD}" destId="{9B5E5609-82AC-4A70-B189-B898689E4390}" srcOrd="0" destOrd="0" presId="urn:microsoft.com/office/officeart/2024/3/layout/hArchList1"/>
    <dgm:cxn modelId="{A9B5D1A0-EBF0-41A7-868B-F347F9F8CF63}" type="presParOf" srcId="{F5D9DAC9-A08E-4902-9A62-CAB6AEBA46BD}" destId="{B2824A67-63C9-4CE0-A4B0-3D59A4E34120}" srcOrd="1" destOrd="0" presId="urn:microsoft.com/office/officeart/2024/3/layout/hArchList1"/>
    <dgm:cxn modelId="{0DB2AE98-C3AE-4264-A2B9-324D7661AE6A}" type="presParOf" srcId="{6E86310D-F30F-4912-B4AB-DE5EDFDA36E9}" destId="{7FA9B37C-43FE-4BF3-A705-9DE144711A14}" srcOrd="3" destOrd="0" presId="urn:microsoft.com/office/officeart/2024/3/layout/hArchList1"/>
    <dgm:cxn modelId="{78E15853-FC77-4ADC-AEE6-1129A70A49EA}" type="presParOf" srcId="{6E86310D-F30F-4912-B4AB-DE5EDFDA36E9}" destId="{6E808930-8903-47E1-A381-C5D5B7C9E066}" srcOrd="4" destOrd="0" presId="urn:microsoft.com/office/officeart/2024/3/layout/hArchList1"/>
    <dgm:cxn modelId="{FAF2F180-5B34-4765-8E09-E2036F60CB3F}" type="presParOf" srcId="{6E808930-8903-47E1-A381-C5D5B7C9E066}" destId="{8D595C0E-4238-49EB-8D4E-61BC95DA4E1C}" srcOrd="0" destOrd="0" presId="urn:microsoft.com/office/officeart/2024/3/layout/hArchList1"/>
    <dgm:cxn modelId="{85E26BD2-BB4F-4230-A767-1366D0AD3019}" type="presParOf" srcId="{6E808930-8903-47E1-A381-C5D5B7C9E066}" destId="{726D8D01-A050-47B7-8228-97774A6ADE57}" srcOrd="1" destOrd="0" presId="urn:microsoft.com/office/officeart/2024/3/layout/hArc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2E048E4-C0A8-4D9C-8CF1-EBEEAC8A7E9B}" type="doc">
      <dgm:prSet loTypeId="urn:microsoft.com/office/officeart/2024/3/layout/hArc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D9BDFDA-C706-41F7-9A9B-6D5802C45530}">
      <dgm:prSet/>
      <dgm:spPr/>
      <dgm:t>
        <a:bodyPr/>
        <a:lstStyle/>
        <a:p>
          <a:pPr marL="457200" indent="-457200">
            <a:lnSpc>
              <a:spcPct val="100000"/>
            </a:lnSpc>
            <a:defRPr b="1"/>
          </a:pPr>
          <a:endParaRPr lang="en-US" b="0" dirty="0"/>
        </a:p>
      </dgm:t>
    </dgm:pt>
    <dgm:pt modelId="{EB0B0241-F138-4E0D-BE3F-72416C15EF1D}" type="parTrans" cxnId="{8B0CA0B2-3D80-4303-A6E3-62F6A1CD2C64}">
      <dgm:prSet/>
      <dgm:spPr/>
      <dgm:t>
        <a:bodyPr/>
        <a:lstStyle/>
        <a:p>
          <a:endParaRPr lang="en-US"/>
        </a:p>
      </dgm:t>
    </dgm:pt>
    <dgm:pt modelId="{369925D4-82DA-40E8-B5E7-F52EE47AE67D}" type="sibTrans" cxnId="{8B0CA0B2-3D80-4303-A6E3-62F6A1CD2C64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6E86310D-F30F-4912-B4AB-DE5EDFDA36E9}" type="pres">
      <dgm:prSet presAssocID="{E2E048E4-C0A8-4D9C-8CF1-EBEEAC8A7E9B}" presName="Name0" presStyleCnt="0">
        <dgm:presLayoutVars>
          <dgm:dir/>
          <dgm:resizeHandles val="exact"/>
        </dgm:presLayoutVars>
      </dgm:prSet>
      <dgm:spPr/>
    </dgm:pt>
    <dgm:pt modelId="{B6470CF2-6B1B-4CD8-8392-B10D5E5ABBF0}" type="pres">
      <dgm:prSet presAssocID="{2D9BDFDA-C706-41F7-9A9B-6D5802C45530}" presName="compNode" presStyleCnt="0"/>
      <dgm:spPr/>
    </dgm:pt>
    <dgm:pt modelId="{C905F59D-E7DA-43C9-9810-23B854442121}" type="pres">
      <dgm:prSet presAssocID="{2D9BDFDA-C706-41F7-9A9B-6D5802C45530}" presName="pictRect" presStyleLbl="revTx" presStyleIdx="0" presStyleCnt="2">
        <dgm:presLayoutVars>
          <dgm:chMax val="0"/>
          <dgm:bulletEnabled/>
        </dgm:presLayoutVars>
      </dgm:prSet>
      <dgm:spPr/>
    </dgm:pt>
    <dgm:pt modelId="{49E5607F-B3F6-42A3-BCD0-0B40FA4C87F9}" type="pres">
      <dgm:prSet presAssocID="{2D9BDFDA-C706-41F7-9A9B-6D5802C45530}" presName="textRect" presStyleLbl="revTx" presStyleIdx="1" presStyleCnt="2">
        <dgm:presLayoutVars>
          <dgm:bulletEnabled/>
        </dgm:presLayoutVars>
      </dgm:prSet>
      <dgm:spPr/>
    </dgm:pt>
  </dgm:ptLst>
  <dgm:cxnLst>
    <dgm:cxn modelId="{18C22F2A-88BC-4055-9D10-1852B0450588}" type="presOf" srcId="{E2E048E4-C0A8-4D9C-8CF1-EBEEAC8A7E9B}" destId="{6E86310D-F30F-4912-B4AB-DE5EDFDA36E9}" srcOrd="0" destOrd="0" presId="urn:microsoft.com/office/officeart/2024/3/layout/hArchList1"/>
    <dgm:cxn modelId="{7F3E4F41-35AB-4C6B-95B9-8ACE545BD161}" type="presOf" srcId="{2D9BDFDA-C706-41F7-9A9B-6D5802C45530}" destId="{C905F59D-E7DA-43C9-9810-23B854442121}" srcOrd="0" destOrd="0" presId="urn:microsoft.com/office/officeart/2024/3/layout/hArchList1"/>
    <dgm:cxn modelId="{8B0CA0B2-3D80-4303-A6E3-62F6A1CD2C64}" srcId="{E2E048E4-C0A8-4D9C-8CF1-EBEEAC8A7E9B}" destId="{2D9BDFDA-C706-41F7-9A9B-6D5802C45530}" srcOrd="0" destOrd="0" parTransId="{EB0B0241-F138-4E0D-BE3F-72416C15EF1D}" sibTransId="{369925D4-82DA-40E8-B5E7-F52EE47AE67D}"/>
    <dgm:cxn modelId="{006F919C-E86D-4560-8014-94E468E1D7A0}" type="presParOf" srcId="{6E86310D-F30F-4912-B4AB-DE5EDFDA36E9}" destId="{B6470CF2-6B1B-4CD8-8392-B10D5E5ABBF0}" srcOrd="0" destOrd="0" presId="urn:microsoft.com/office/officeart/2024/3/layout/hArchList1"/>
    <dgm:cxn modelId="{924EFEE0-0793-4F1A-A4B8-8CB6FB9B34E3}" type="presParOf" srcId="{B6470CF2-6B1B-4CD8-8392-B10D5E5ABBF0}" destId="{C905F59D-E7DA-43C9-9810-23B854442121}" srcOrd="0" destOrd="0" presId="urn:microsoft.com/office/officeart/2024/3/layout/hArchList1"/>
    <dgm:cxn modelId="{742ABF0C-ED34-4FB5-84D3-ADFCAFB0BDE2}" type="presParOf" srcId="{B6470CF2-6B1B-4CD8-8392-B10D5E5ABBF0}" destId="{49E5607F-B3F6-42A3-BCD0-0B40FA4C87F9}" srcOrd="1" destOrd="0" presId="urn:microsoft.com/office/officeart/2024/3/layout/hArc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CA5016-5D85-4D6D-8D9F-CC4F22CFC168}">
      <dsp:nvSpPr>
        <dsp:cNvPr id="0" name=""/>
        <dsp:cNvSpPr/>
      </dsp:nvSpPr>
      <dsp:spPr>
        <a:xfrm>
          <a:off x="0" y="0"/>
          <a:ext cx="1552009" cy="15520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-1"/>
          <a:stretch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098137E-8EEE-4F0C-A074-72E91A2DDE64}">
      <dsp:nvSpPr>
        <dsp:cNvPr id="0" name=""/>
        <dsp:cNvSpPr/>
      </dsp:nvSpPr>
      <dsp:spPr>
        <a:xfrm>
          <a:off x="1732009" y="0"/>
          <a:ext cx="9393022" cy="380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Just Culture Framework</a:t>
          </a:r>
        </a:p>
      </dsp:txBody>
      <dsp:txXfrm>
        <a:off x="1732009" y="0"/>
        <a:ext cx="9393022" cy="380326"/>
      </dsp:txXfrm>
    </dsp:sp>
    <dsp:sp modelId="{ABFC344B-DC4C-4B97-A870-91EA82F5CCD8}">
      <dsp:nvSpPr>
        <dsp:cNvPr id="0" name=""/>
        <dsp:cNvSpPr/>
      </dsp:nvSpPr>
      <dsp:spPr>
        <a:xfrm>
          <a:off x="1732009" y="380326"/>
          <a:ext cx="9393022" cy="11716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Just Culture balances accountability with a non-punitive approach to handling errors and mistakes in organizations.</a:t>
          </a:r>
        </a:p>
      </dsp:txBody>
      <dsp:txXfrm>
        <a:off x="1732009" y="380326"/>
        <a:ext cx="9393022" cy="1171682"/>
      </dsp:txXfrm>
    </dsp:sp>
    <dsp:sp modelId="{F6BF0ABE-AFAB-4DC5-A807-8223F4ED09A1}">
      <dsp:nvSpPr>
        <dsp:cNvPr id="0" name=""/>
        <dsp:cNvSpPr/>
      </dsp:nvSpPr>
      <dsp:spPr>
        <a:xfrm>
          <a:off x="0" y="1676170"/>
          <a:ext cx="1552009" cy="1552009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25" r="9128" b="4"/>
          <a:stretch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11F1CA0-A13D-42B3-A77F-95BE1F73C8E5}">
      <dsp:nvSpPr>
        <dsp:cNvPr id="0" name=""/>
        <dsp:cNvSpPr/>
      </dsp:nvSpPr>
      <dsp:spPr>
        <a:xfrm>
          <a:off x="1732009" y="1676170"/>
          <a:ext cx="9393022" cy="380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Safe Reporting Environment</a:t>
          </a:r>
        </a:p>
      </dsp:txBody>
      <dsp:txXfrm>
        <a:off x="1732009" y="1676170"/>
        <a:ext cx="9393022" cy="380326"/>
      </dsp:txXfrm>
    </dsp:sp>
    <dsp:sp modelId="{29D6F775-4D4A-4895-BCC6-4304AC7ED016}">
      <dsp:nvSpPr>
        <dsp:cNvPr id="0" name=""/>
        <dsp:cNvSpPr/>
      </dsp:nvSpPr>
      <dsp:spPr>
        <a:xfrm>
          <a:off x="1732009" y="2056496"/>
          <a:ext cx="9393022" cy="11716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It creates a safe environment for employees to report mistakes without fear of punishment or blame.</a:t>
          </a:r>
        </a:p>
      </dsp:txBody>
      <dsp:txXfrm>
        <a:off x="1732009" y="2056496"/>
        <a:ext cx="9393022" cy="1171682"/>
      </dsp:txXfrm>
    </dsp:sp>
    <dsp:sp modelId="{6145D488-9F2D-4753-972A-C32193475BF4}">
      <dsp:nvSpPr>
        <dsp:cNvPr id="0" name=""/>
        <dsp:cNvSpPr/>
      </dsp:nvSpPr>
      <dsp:spPr>
        <a:xfrm>
          <a:off x="0" y="3352340"/>
          <a:ext cx="1552009" cy="15520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50" r="8302" b="4"/>
          <a:stretch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8571837-E51C-464D-9D5E-D203D136F86D}">
      <dsp:nvSpPr>
        <dsp:cNvPr id="0" name=""/>
        <dsp:cNvSpPr/>
      </dsp:nvSpPr>
      <dsp:spPr>
        <a:xfrm>
          <a:off x="1732009" y="3352340"/>
          <a:ext cx="9393022" cy="380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Improved Learning and Safety</a:t>
          </a:r>
        </a:p>
      </dsp:txBody>
      <dsp:txXfrm>
        <a:off x="1732009" y="3352340"/>
        <a:ext cx="9393022" cy="380326"/>
      </dsp:txXfrm>
    </dsp:sp>
    <dsp:sp modelId="{22F96F5C-DCA1-45DF-859B-2107FA97EBF0}">
      <dsp:nvSpPr>
        <dsp:cNvPr id="0" name=""/>
        <dsp:cNvSpPr/>
      </dsp:nvSpPr>
      <dsp:spPr>
        <a:xfrm>
          <a:off x="1732009" y="3732666"/>
          <a:ext cx="9393022" cy="11716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Encouraging open reporting leads to better organizational learning and safer operational practices.</a:t>
          </a:r>
        </a:p>
      </dsp:txBody>
      <dsp:txXfrm>
        <a:off x="1732009" y="3732666"/>
        <a:ext cx="9393022" cy="117168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E4D2A5-AD8B-40AA-BC43-471B3220AA1C}">
      <dsp:nvSpPr>
        <dsp:cNvPr id="0" name=""/>
        <dsp:cNvSpPr/>
      </dsp:nvSpPr>
      <dsp:spPr>
        <a:xfrm>
          <a:off x="0" y="0"/>
          <a:ext cx="2634614" cy="6340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Understanding Barriers</a:t>
          </a:r>
        </a:p>
      </dsp:txBody>
      <dsp:txXfrm>
        <a:off x="0" y="0"/>
        <a:ext cx="2634614" cy="634079"/>
      </dsp:txXfrm>
    </dsp:sp>
    <dsp:sp modelId="{CFBAEB1C-AB64-44E5-B816-ED8621E2AF81}">
      <dsp:nvSpPr>
        <dsp:cNvPr id="0" name=""/>
        <dsp:cNvSpPr/>
      </dsp:nvSpPr>
      <dsp:spPr>
        <a:xfrm>
          <a:off x="0" y="634079"/>
          <a:ext cx="2634614" cy="1194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Recognizing and addressing barriers is essential to successfully implement a Just, Learning Culture in organizations.</a:t>
          </a:r>
        </a:p>
      </dsp:txBody>
      <dsp:txXfrm>
        <a:off x="0" y="634079"/>
        <a:ext cx="2634614" cy="1194720"/>
      </dsp:txXfrm>
    </dsp:sp>
    <dsp:sp modelId="{9B5E5609-82AC-4A70-B189-B898689E4390}">
      <dsp:nvSpPr>
        <dsp:cNvPr id="0" name=""/>
        <dsp:cNvSpPr/>
      </dsp:nvSpPr>
      <dsp:spPr>
        <a:xfrm>
          <a:off x="2898076" y="0"/>
          <a:ext cx="2634614" cy="6340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Committed Leadership</a:t>
          </a:r>
        </a:p>
      </dsp:txBody>
      <dsp:txXfrm>
        <a:off x="2898076" y="0"/>
        <a:ext cx="2634614" cy="634079"/>
      </dsp:txXfrm>
    </dsp:sp>
    <dsp:sp modelId="{B2824A67-63C9-4CE0-A4B0-3D59A4E34120}">
      <dsp:nvSpPr>
        <dsp:cNvPr id="0" name=""/>
        <dsp:cNvSpPr/>
      </dsp:nvSpPr>
      <dsp:spPr>
        <a:xfrm>
          <a:off x="2898076" y="634079"/>
          <a:ext cx="2634614" cy="1194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Strong leadership commitment is crucial to foster a culture focused on safety, transparency, and continuous learning.</a:t>
          </a:r>
        </a:p>
      </dsp:txBody>
      <dsp:txXfrm>
        <a:off x="2898076" y="634079"/>
        <a:ext cx="2634614" cy="1194720"/>
      </dsp:txXfrm>
    </dsp:sp>
    <dsp:sp modelId="{8D595C0E-4238-49EB-8D4E-61BC95DA4E1C}">
      <dsp:nvSpPr>
        <dsp:cNvPr id="0" name=""/>
        <dsp:cNvSpPr/>
      </dsp:nvSpPr>
      <dsp:spPr>
        <a:xfrm>
          <a:off x="5796152" y="0"/>
          <a:ext cx="2634614" cy="6340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Targeted Strategies</a:t>
          </a:r>
        </a:p>
      </dsp:txBody>
      <dsp:txXfrm>
        <a:off x="5796152" y="0"/>
        <a:ext cx="2634614" cy="634079"/>
      </dsp:txXfrm>
    </dsp:sp>
    <dsp:sp modelId="{726D8D01-A050-47B7-8228-97774A6ADE57}">
      <dsp:nvSpPr>
        <dsp:cNvPr id="0" name=""/>
        <dsp:cNvSpPr/>
      </dsp:nvSpPr>
      <dsp:spPr>
        <a:xfrm>
          <a:off x="5796152" y="634079"/>
          <a:ext cx="2634614" cy="1194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Implementing specific strategies helps organizations create an environment that supports learning and accountability.</a:t>
          </a:r>
        </a:p>
      </dsp:txBody>
      <dsp:txXfrm>
        <a:off x="5796152" y="634079"/>
        <a:ext cx="2634614" cy="11947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05F59D-E7DA-43C9-9810-23B854442121}">
      <dsp:nvSpPr>
        <dsp:cNvPr id="0" name=""/>
        <dsp:cNvSpPr/>
      </dsp:nvSpPr>
      <dsp:spPr>
        <a:xfrm>
          <a:off x="0" y="0"/>
          <a:ext cx="8430768" cy="182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2700" rIns="12700" bIns="12700" numCol="1" spcCol="1270" anchor="t" anchorCtr="0">
          <a:noAutofit/>
        </a:bodyPr>
        <a:lstStyle/>
        <a:p>
          <a:pPr marL="457200" lvl="0" indent="-457200" algn="l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endParaRPr lang="en-US" sz="1000" b="0" kern="1200" dirty="0"/>
        </a:p>
      </dsp:txBody>
      <dsp:txXfrm>
        <a:off x="0" y="0"/>
        <a:ext cx="8430768" cy="182880"/>
      </dsp:txXfrm>
    </dsp:sp>
    <dsp:sp modelId="{49E5607F-B3F6-42A3-BCD0-0B40FA4C87F9}">
      <dsp:nvSpPr>
        <dsp:cNvPr id="0" name=""/>
        <dsp:cNvSpPr/>
      </dsp:nvSpPr>
      <dsp:spPr>
        <a:xfrm>
          <a:off x="0" y="182879"/>
          <a:ext cx="8430768" cy="1645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3/layout/verticalVisualTextBlock1">
  <dgm:title val="Vertical Visual Text Blocks"/>
  <dgm:desc val="Pictures with short bits of text with formatted headers. Use as an easier-to-read alternative to a bulleted list."/>
  <dgm:catLst>
    <dgm:cat type="picture" pri="1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Root">
    <dgm:varLst>
      <dgm:dir/>
      <dgm:resizeHandles val="exact"/>
    </dgm:varLst>
    <dgm:choose name="BasedOnLanguageDirection">
      <dgm:if name="LeftToRight" func="var" arg="dir" op="equ" val="norm">
        <dgm:alg type="lin">
          <dgm:param type="linDir" val="fromT"/>
          <dgm:param type="vertAlign" val="t"/>
          <dgm:param type="horzAlign" val="l"/>
        </dgm:alg>
      </dgm:if>
      <dgm:else name="RightToLeft">
        <dgm:alg type="lin">
          <dgm:param type="linDir" val="fromT"/>
          <dgm:param type="vertAlign" val="t"/>
          <dgm:param type="horzAlign" val="r"/>
        </dgm:alg>
      </dgm:else>
    </dgm:choose>
    <dgm:presOf/>
    <dgm:constrLst>
      <dgm:constr type="primFontSz" for="des" forName="Subtitle" op="equ" val="18"/>
      <dgm:constr type="primFontSz" for="des" forName="Description" refType="primFontSz" refFor="des" refForName="Subtitle" op="equ" fact="0.77"/>
      <dgm:constr type="w" for="ch" forName="Composite" refType="w"/>
      <dgm:constr type="h" for="ch" forName="Composite" refType="h"/>
      <dgm:constr type="h" for="ch" forName="sibTrans" refType="h" refFor="ch" refForName="Composite" fact="0.08"/>
      <dgm:constr type="sp" refType="w" refFor="ch" refForName="Composite" op="equ" fact="0.1"/>
    </dgm:constrLst>
    <dgm:ruleLst/>
    <dgm:forEach name="DirectChildrenOfRoot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Picture" refType="w" fact="0.335"/>
          <dgm:constr type="h" for="ch" forName="Picture" refType="w" refFor="ch" refForName="Picture" op="equ"/>
          <dgm:constr type="h" for="ch" forName="Picture" refType="h" op="lte"/>
          <dgm:constr type="l" for="ch" forName="Subtitle" refType="r" refFor="ch" refForName="Picture"/>
          <dgm:constr type="lOff" for="ch" forName="Subtitle" val="5"/>
          <dgm:constr type="h" for="ch" forName="Subtitle" refType="h" fact="0.1"/>
          <dgm:constr type="t" for="ch" forName="Description" refType="b" refFor="ch" refForName="Subtitle"/>
          <dgm:constr type="l" for="ch" forName="Description" refType="r" refFor="ch" refForName="Picture"/>
          <dgm:constr type="lOff" for="ch" forName="Description" val="5"/>
        </dgm:constrLst>
        <dgm:ruleLst/>
        <dgm:layoutNode name="Picture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ubtitle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SubtitleConstraintsBasedOnLanguageDirection">
            <dgm:if name="SubtitleIsLeftToRight" func="var" arg="dir" op="equ" val="norm">
              <dgm:constrLst>
                <dgm:constr type="h" refType="w" op="lte" fact="0.4"/>
                <dgm:constr type="lMarg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SubtitleIsRightToLeft">
              <dgm:constrLst>
                <dgm:constr type="h" refType="w" op="lte" fact="0.4"/>
                <dgm:constr type="rMarg"/>
                <dgm:constr type="lMarg" refType="primFontSz" fact="0.1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Description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DescriptionConstraintsBasedOnLanguageDirection">
            <dgm:if name="DescriptionIsLeftToRight" func="var" arg="dir" op="equ" val="norm">
              <dgm:constrLst>
                <dgm:constr type="lMarg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DescriptionIsRightToLeft">
              <dgm:constrLst>
                <dgm:constr type="lMarg" refType="primFontSz" fact="0.1"/>
                <dgm:constr type="rMarg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24/3/layout/hArchList1">
  <dgm:title val="Horizontal Text Blocks"/>
  <dgm:desc val="Short bits of text with formatted headers. Use as an easier-to-read alternative to a bulleted list."/>
  <dgm:catLst>
    <dgm:cat type="list" pri="100"/>
    <dgm:cat type="timeline" pri="500"/>
    <dgm:cat type="process" pri="6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vertAlign" val="t"/>
          <dgm:param type="horzAlign" val="l"/>
        </dgm:alg>
      </dgm:if>
      <dgm:else name="Name3">
        <dgm:alg type="lin">
          <dgm:param type="vertAlign" val="t"/>
          <dgm:param type="horzAlign" val="r"/>
        </dgm:alg>
      </dgm:else>
    </dgm:choose>
    <dgm:presOf/>
    <dgm:constrLst>
      <dgm:constr type="primFontSz" for="des" forName="pictRect" op="equ" val="18"/>
      <dgm:constr type="primFontSz" for="des" forName="textRect" refType="primFontSz" refFor="des" refForName="pictRect" op="equ" fact="0.77"/>
      <dgm:constr type="w" for="ch" forName="compNode" refType="w"/>
      <dgm:constr type="h" for="ch" forName="compNode" refType="h"/>
      <dgm:constr type="h" for="des" forName="pictRect" op="equ"/>
      <dgm:constr type="h" for="des" forName="pictRect" refType="primFontSz" refFor="des" refForName="pictRect" fact="3"/>
      <dgm:constr type="w" for="ch" ptType="sibTrans" refType="w" refFor="ch" refForName="compNode" op="equ" fact="0.1"/>
      <dgm:constr type="sp" refType="w" refFor="ch" refForName="compNode" op="equ" fact="0.1"/>
    </dgm:constrLst>
    <dgm:ruleLst/>
    <dgm:forEach name="Name4" axis="ch" ptType="node" cnt="20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h" for="ch" forName="pictRect" refType="h" fact="0.1"/>
          <dgm:constr type="l" for="ch" forName="pictRect"/>
          <dgm:constr type="t" for="ch" forName="pictRect"/>
          <dgm:constr type="l" for="ch" forName="textRect"/>
          <dgm:constr type="t" for="ch" forName="textRect" refType="b" refFor="ch" refForName="pictRect"/>
        </dgm:constrLst>
        <dgm:ruleLst/>
        <dgm:layoutNode name="pictRect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choosePictRectConstraints">
            <dgm:if name="ifPictRectConstraints" func="var" arg="dir" op="equ" val="norm">
              <dgm:constrLst>
                <dgm:constr type="h" refType="w" op="lte" fact="0.4"/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Pic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textRect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chooseTextRectConstraints">
            <dgm:if name="ifTextRectConstraints" func="var" arg="dir" op="equ" val="norm">
              <dgm:constrLst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Tex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24/3/layout/hArchList1">
  <dgm:title val="Horizontal Text Blocks"/>
  <dgm:desc val="Short bits of text with formatted headers. Use as an easier-to-read alternative to a bulleted list."/>
  <dgm:catLst>
    <dgm:cat type="list" pri="100"/>
    <dgm:cat type="timeline" pri="500"/>
    <dgm:cat type="process" pri="6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vertAlign" val="t"/>
          <dgm:param type="horzAlign" val="l"/>
        </dgm:alg>
      </dgm:if>
      <dgm:else name="Name3">
        <dgm:alg type="lin">
          <dgm:param type="vertAlign" val="t"/>
          <dgm:param type="horzAlign" val="r"/>
        </dgm:alg>
      </dgm:else>
    </dgm:choose>
    <dgm:presOf/>
    <dgm:constrLst>
      <dgm:constr type="primFontSz" for="des" forName="pictRect" op="equ" val="18"/>
      <dgm:constr type="primFontSz" for="des" forName="textRect" refType="primFontSz" refFor="des" refForName="pictRect" op="equ" fact="0.77"/>
      <dgm:constr type="w" for="ch" forName="compNode" refType="w"/>
      <dgm:constr type="h" for="ch" forName="compNode" refType="h"/>
      <dgm:constr type="h" for="des" forName="pictRect" op="equ"/>
      <dgm:constr type="h" for="des" forName="pictRect" refType="primFontSz" refFor="des" refForName="pictRect" fact="3"/>
      <dgm:constr type="w" for="ch" ptType="sibTrans" refType="w" refFor="ch" refForName="compNode" op="equ" fact="0.1"/>
      <dgm:constr type="sp" refType="w" refFor="ch" refForName="compNode" op="equ" fact="0.1"/>
    </dgm:constrLst>
    <dgm:ruleLst/>
    <dgm:forEach name="Name4" axis="ch" ptType="node" cnt="20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h" for="ch" forName="pictRect" refType="h" fact="0.1"/>
          <dgm:constr type="l" for="ch" forName="pictRect"/>
          <dgm:constr type="t" for="ch" forName="pictRect"/>
          <dgm:constr type="l" for="ch" forName="textRect"/>
          <dgm:constr type="t" for="ch" forName="textRect" refType="b" refFor="ch" refForName="pictRect"/>
        </dgm:constrLst>
        <dgm:ruleLst/>
        <dgm:layoutNode name="pictRect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choosePictRectConstraints">
            <dgm:if name="ifPictRectConstraints" func="var" arg="dir" op="equ" val="norm">
              <dgm:constrLst>
                <dgm:constr type="h" refType="w" op="lte" fact="0.4"/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Pic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textRect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chooseTextRectConstraints">
            <dgm:if name="ifTextRectConstraints" func="var" arg="dir" op="equ" val="norm">
              <dgm:constrLst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Tex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48DD0D-150A-437E-A8D2-E2DDF2A326AE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5426B9-1779-461A-AB77-855B404CA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389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540A62-E09A-443B-85CF-BECA9C5F1B3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0239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540A62-E09A-443B-85CF-BECA9C5F1B3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528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540A62-E09A-443B-85CF-BECA9C5F1B3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9781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540A62-E09A-443B-85CF-BECA9C5F1B3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1408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540A62-E09A-443B-85CF-BECA9C5F1B3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2093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540A62-E09A-443B-85CF-BECA9C5F1B3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899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540A62-E09A-443B-85CF-BECA9C5F1B3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6596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540A62-E09A-443B-85CF-BECA9C5F1B3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9538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540A62-E09A-443B-85CF-BECA9C5F1B3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2632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66AE9-3790-1698-E726-7AA41FD65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EC536E-A736-07CE-C9F6-9D80CF5C77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7B2B98-6B7C-ED7C-2E8F-27DF28C759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E1D3FC-E444-D15D-4265-9847E59321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540A62-E09A-443B-85CF-BECA9C5F1B3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07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172" y="3425399"/>
            <a:ext cx="7685140" cy="2621154"/>
          </a:xfrm>
        </p:spPr>
        <p:txBody>
          <a:bodyPr anchor="b">
            <a:noAutofit/>
          </a:bodyPr>
          <a:lstStyle>
            <a:lvl1pPr algn="l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172" y="415057"/>
            <a:ext cx="7685139" cy="1414091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D9CF25F-571F-457E-8BF9-60CD2D718A5F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3139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A7EE6792-FA06-4409-A446-E7CC31A42E6D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956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538BCE06-648F-4A8D-81AB-7650BB5C36AC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309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293302"/>
            <a:ext cx="11125032" cy="96510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172" y="1384847"/>
            <a:ext cx="11125032" cy="49051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B74DF-E858-479C-A1C4-A9701F9384A2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528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9E06FED-92D3-C4D6-28D7-600D842F7A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1733150" cy="5135804"/>
          </a:xfrm>
          <a:custGeom>
            <a:avLst/>
            <a:gdLst>
              <a:gd name="connsiteX0" fmla="*/ 0 w 11733150"/>
              <a:gd name="connsiteY0" fmla="*/ 0 h 5135804"/>
              <a:gd name="connsiteX1" fmla="*/ 11733150 w 11733150"/>
              <a:gd name="connsiteY1" fmla="*/ 0 h 5135804"/>
              <a:gd name="connsiteX2" fmla="*/ 11733150 w 11733150"/>
              <a:gd name="connsiteY2" fmla="*/ 4533808 h 5135804"/>
              <a:gd name="connsiteX3" fmla="*/ 11131154 w 11733150"/>
              <a:gd name="connsiteY3" fmla="*/ 5135804 h 5135804"/>
              <a:gd name="connsiteX4" fmla="*/ 0 w 11733150"/>
              <a:gd name="connsiteY4" fmla="*/ 5135804 h 5135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5135804">
                <a:moveTo>
                  <a:pt x="0" y="0"/>
                </a:moveTo>
                <a:lnTo>
                  <a:pt x="11733150" y="0"/>
                </a:lnTo>
                <a:lnTo>
                  <a:pt x="11733150" y="4533808"/>
                </a:lnTo>
                <a:cubicBezTo>
                  <a:pt x="11733150" y="4866281"/>
                  <a:pt x="11463627" y="5135804"/>
                  <a:pt x="11131154" y="5135804"/>
                </a:cubicBezTo>
                <a:lnTo>
                  <a:pt x="0" y="51358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FBA74436-10CA-4644-BBCF-810E5CAE64F9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 vert="horz" lIns="91440" tIns="45720" rIns="91440" bIns="45720" rtlCol="0" anchor="ctr"/>
          <a:lstStyle>
            <a:lvl1pPr>
              <a:defRPr lang="en-US" smtClean="0"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60679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anchor="t">
            <a:normAutofit/>
          </a:bodyPr>
          <a:lstStyle>
            <a:lvl1pPr algn="l">
              <a:defRPr sz="5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D161DAC-42AF-C3D9-37A1-04B90F30DE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86160" y="0"/>
            <a:ext cx="6605841" cy="6399152"/>
          </a:xfrm>
          <a:custGeom>
            <a:avLst/>
            <a:gdLst>
              <a:gd name="connsiteX0" fmla="*/ 0 w 6605841"/>
              <a:gd name="connsiteY0" fmla="*/ 0 h 6399152"/>
              <a:gd name="connsiteX1" fmla="*/ 6605841 w 6605841"/>
              <a:gd name="connsiteY1" fmla="*/ 0 h 6399152"/>
              <a:gd name="connsiteX2" fmla="*/ 6605841 w 6605841"/>
              <a:gd name="connsiteY2" fmla="*/ 6399152 h 6399152"/>
              <a:gd name="connsiteX3" fmla="*/ 601995 w 6605841"/>
              <a:gd name="connsiteY3" fmla="*/ 6399152 h 6399152"/>
              <a:gd name="connsiteX4" fmla="*/ 0 w 6605841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5841" h="6399152">
                <a:moveTo>
                  <a:pt x="0" y="0"/>
                </a:moveTo>
                <a:lnTo>
                  <a:pt x="6605841" y="0"/>
                </a:lnTo>
                <a:lnTo>
                  <a:pt x="6605841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7C22904F-E853-4FDD-9DDF-BEBDCCB1BD56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72849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30952" cy="3739896"/>
          </a:xfrm>
        </p:spPr>
        <p:txBody>
          <a:bodyPr anchor="t">
            <a:normAutofit/>
          </a:bodyPr>
          <a:lstStyle>
            <a:lvl1pPr algn="l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DEE3B02A-3B83-3083-3F07-26E25C6C13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17248" y="0"/>
            <a:ext cx="5674753" cy="6399152"/>
          </a:xfrm>
          <a:custGeom>
            <a:avLst/>
            <a:gdLst>
              <a:gd name="connsiteX0" fmla="*/ 0 w 5674753"/>
              <a:gd name="connsiteY0" fmla="*/ 0 h 6399152"/>
              <a:gd name="connsiteX1" fmla="*/ 5674753 w 5674753"/>
              <a:gd name="connsiteY1" fmla="*/ 0 h 6399152"/>
              <a:gd name="connsiteX2" fmla="*/ 5674753 w 5674753"/>
              <a:gd name="connsiteY2" fmla="*/ 6399152 h 6399152"/>
              <a:gd name="connsiteX3" fmla="*/ 601996 w 5674753"/>
              <a:gd name="connsiteY3" fmla="*/ 6399152 h 6399152"/>
              <a:gd name="connsiteX4" fmla="*/ 0 w 5674753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74753" h="6399152">
                <a:moveTo>
                  <a:pt x="0" y="0"/>
                </a:moveTo>
                <a:lnTo>
                  <a:pt x="5674753" y="0"/>
                </a:lnTo>
                <a:lnTo>
                  <a:pt x="5674753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8F2D7F96-4C1D-416F-93AF-1F334D356892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7357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anchor="t">
            <a:normAutofit/>
          </a:bodyPr>
          <a:lstStyle>
            <a:lvl1pPr algn="l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1D6AB98B-BD95-F9FC-BB22-1A89B6EE3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04503" cy="6399152"/>
          </a:xfrm>
          <a:custGeom>
            <a:avLst/>
            <a:gdLst>
              <a:gd name="connsiteX0" fmla="*/ 0 w 6604503"/>
              <a:gd name="connsiteY0" fmla="*/ 0 h 6399152"/>
              <a:gd name="connsiteX1" fmla="*/ 6604503 w 6604503"/>
              <a:gd name="connsiteY1" fmla="*/ 0 h 6399152"/>
              <a:gd name="connsiteX2" fmla="*/ 6604503 w 6604503"/>
              <a:gd name="connsiteY2" fmla="*/ 5797156 h 6399152"/>
              <a:gd name="connsiteX3" fmla="*/ 6002507 w 6604503"/>
              <a:gd name="connsiteY3" fmla="*/ 6399152 h 6399152"/>
              <a:gd name="connsiteX4" fmla="*/ 0 w 6604503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4503" h="6399152">
                <a:moveTo>
                  <a:pt x="0" y="0"/>
                </a:moveTo>
                <a:lnTo>
                  <a:pt x="6604503" y="0"/>
                </a:lnTo>
                <a:lnTo>
                  <a:pt x="6604503" y="5797156"/>
                </a:lnTo>
                <a:cubicBezTo>
                  <a:pt x="6604503" y="6129629"/>
                  <a:pt x="6334980" y="6399152"/>
                  <a:pt x="6002507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0F934D93-F841-40A2-90E4-B199F1AEEBEE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1850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423160"/>
            <a:ext cx="5202936" cy="385876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lphaLcPeriod"/>
              <a:defRPr lang="en-US" dirty="0"/>
            </a:lvl2pPr>
            <a:lvl3pPr marL="800100" indent="-342900">
              <a:buFont typeface="+mj-lt"/>
              <a:buAutoNum type="romanLcPeriod"/>
              <a:defRPr lang="en-US" dirty="0"/>
            </a:lvl3pPr>
            <a:lvl4pPr marL="914400" indent="-228600">
              <a:buFont typeface="+mj-lt"/>
              <a:buAutoNum type="arabicParenR"/>
              <a:defRPr lang="en-US" dirty="0"/>
            </a:lvl4pPr>
            <a:lvl5pPr marL="1143000" indent="-228600">
              <a:buFont typeface="+mj-lt"/>
              <a:buAutoNum type="alphaLcParenR"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2ACEF-2A8A-4360-9E47-C7C7CE08FE5D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3350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006" y="998230"/>
            <a:ext cx="3951469" cy="1947672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DD60ACDC-1760-F721-E270-0D2FC4872D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002464" cy="6399152"/>
          </a:xfrm>
          <a:custGeom>
            <a:avLst/>
            <a:gdLst>
              <a:gd name="connsiteX0" fmla="*/ 0 w 7002464"/>
              <a:gd name="connsiteY0" fmla="*/ 0 h 6399152"/>
              <a:gd name="connsiteX1" fmla="*/ 7002464 w 7002464"/>
              <a:gd name="connsiteY1" fmla="*/ 0 h 6399152"/>
              <a:gd name="connsiteX2" fmla="*/ 7002464 w 7002464"/>
              <a:gd name="connsiteY2" fmla="*/ 5797156 h 6399152"/>
              <a:gd name="connsiteX3" fmla="*/ 6400468 w 7002464"/>
              <a:gd name="connsiteY3" fmla="*/ 6399152 h 6399152"/>
              <a:gd name="connsiteX4" fmla="*/ 0 w 7002464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2464" h="6399152">
                <a:moveTo>
                  <a:pt x="0" y="0"/>
                </a:moveTo>
                <a:lnTo>
                  <a:pt x="7002464" y="0"/>
                </a:lnTo>
                <a:lnTo>
                  <a:pt x="7002464" y="5797156"/>
                </a:lnTo>
                <a:cubicBezTo>
                  <a:pt x="7002464" y="6129629"/>
                  <a:pt x="6732941" y="6399152"/>
                  <a:pt x="6400468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1007" y="3099815"/>
            <a:ext cx="3951469" cy="3084599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lphaLcPeriod"/>
              <a:defRPr sz="1600"/>
            </a:lvl2pPr>
            <a:lvl3pPr marL="800100" indent="-342900">
              <a:buFont typeface="+mj-lt"/>
              <a:buAutoNum type="romanLcPeriod"/>
              <a:defRPr sz="1400"/>
            </a:lvl3pPr>
            <a:lvl4pPr marL="914400" indent="-228600">
              <a:buFont typeface="+mj-lt"/>
              <a:buAutoNum type="arabicParenR"/>
              <a:defRPr sz="1200"/>
            </a:lvl4pPr>
            <a:lvl5pPr marL="1143000" indent="-228600">
              <a:buFont typeface="+mj-lt"/>
              <a:buAutoNum type="alphaLcParenR"/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D9731E2-6D9A-439A-A7EF-7D0AF0228D45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67762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47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Click to edit Master text styles</a:t>
            </a:r>
          </a:p>
          <a:p>
            <a:pPr marL="4572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Second level</a:t>
            </a:r>
          </a:p>
          <a:p>
            <a:pPr marL="6858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Third level</a:t>
            </a:r>
          </a:p>
          <a:p>
            <a:pPr marL="9144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Fourth level</a:t>
            </a:r>
          </a:p>
          <a:p>
            <a:pPr marL="11430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734A4-25BB-456A-BE70-57902C4448C8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9600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FCBE9-E2E5-4C80-B2A5-70DA0CEC98ED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31733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0A177-0669-4052-9F3A-468C425FDA7D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27667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640079"/>
            <a:ext cx="4032505" cy="362102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715"/>
            <a:ext cx="5968098" cy="5719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4BAA3-ED6B-4692-932D-D414A2239710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7929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6134E-F493-4F0E-A42A-0A3B91B39CD1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2863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29450"/>
            <a:ext cx="11924209" cy="6199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986E2-DD84-4149-BBC0-42DE0170BB1F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03087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E823DF8-AABE-3B17-254E-81CD7CA2B5B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4" y="0"/>
            <a:ext cx="6454406" cy="6399152"/>
          </a:xfrm>
          <a:custGeom>
            <a:avLst/>
            <a:gdLst>
              <a:gd name="connsiteX0" fmla="*/ 0 w 6454406"/>
              <a:gd name="connsiteY0" fmla="*/ 0 h 6399152"/>
              <a:gd name="connsiteX1" fmla="*/ 6454406 w 6454406"/>
              <a:gd name="connsiteY1" fmla="*/ 0 h 6399152"/>
              <a:gd name="connsiteX2" fmla="*/ 6454406 w 6454406"/>
              <a:gd name="connsiteY2" fmla="*/ 6399152 h 6399152"/>
              <a:gd name="connsiteX3" fmla="*/ 601995 w 6454406"/>
              <a:gd name="connsiteY3" fmla="*/ 6399152 h 6399152"/>
              <a:gd name="connsiteX4" fmla="*/ 0 w 6454406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6" h="6399152">
                <a:moveTo>
                  <a:pt x="0" y="0"/>
                </a:moveTo>
                <a:lnTo>
                  <a:pt x="6454406" y="0"/>
                </a:lnTo>
                <a:lnTo>
                  <a:pt x="6454406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284AE-0E98-498C-9F64-A27F8DFF5587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2669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6F26914B-7405-10AB-A859-8165D7B1A9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6591300" cy="6410303"/>
          </a:xfrm>
          <a:custGeom>
            <a:avLst/>
            <a:gdLst>
              <a:gd name="connsiteX0" fmla="*/ 0 w 6591300"/>
              <a:gd name="connsiteY0" fmla="*/ 0 h 6410303"/>
              <a:gd name="connsiteX1" fmla="*/ 6591300 w 6591300"/>
              <a:gd name="connsiteY1" fmla="*/ 0 h 6410303"/>
              <a:gd name="connsiteX2" fmla="*/ 6591300 w 6591300"/>
              <a:gd name="connsiteY2" fmla="*/ 5807073 h 6410303"/>
              <a:gd name="connsiteX3" fmla="*/ 5988070 w 6591300"/>
              <a:gd name="connsiteY3" fmla="*/ 6410303 h 6410303"/>
              <a:gd name="connsiteX4" fmla="*/ 0 w 6591300"/>
              <a:gd name="connsiteY4" fmla="*/ 6410303 h 641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410303">
                <a:moveTo>
                  <a:pt x="0" y="0"/>
                </a:moveTo>
                <a:lnTo>
                  <a:pt x="6591300" y="0"/>
                </a:lnTo>
                <a:lnTo>
                  <a:pt x="6591300" y="5807073"/>
                </a:lnTo>
                <a:cubicBezTo>
                  <a:pt x="6591300" y="6140228"/>
                  <a:pt x="6321225" y="6410303"/>
                  <a:pt x="5988070" y="6410303"/>
                </a:cubicBezTo>
                <a:lnTo>
                  <a:pt x="0" y="6410303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EEA4086-3581-43C3-BB3F-4674B4D78B17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17523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8FA1BA0-D099-705F-F85E-3FBC782F76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02843" y="2"/>
            <a:ext cx="7689157" cy="6399151"/>
          </a:xfrm>
          <a:custGeom>
            <a:avLst/>
            <a:gdLst>
              <a:gd name="connsiteX0" fmla="*/ 0 w 7689157"/>
              <a:gd name="connsiteY0" fmla="*/ 0 h 6399151"/>
              <a:gd name="connsiteX1" fmla="*/ 7689157 w 7689157"/>
              <a:gd name="connsiteY1" fmla="*/ 0 h 6399151"/>
              <a:gd name="connsiteX2" fmla="*/ 7689157 w 7689157"/>
              <a:gd name="connsiteY2" fmla="*/ 6399151 h 6399151"/>
              <a:gd name="connsiteX3" fmla="*/ 601997 w 7689157"/>
              <a:gd name="connsiteY3" fmla="*/ 6399151 h 6399151"/>
              <a:gd name="connsiteX4" fmla="*/ 0 w 7689157"/>
              <a:gd name="connsiteY4" fmla="*/ 5797155 h 6399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1">
                <a:moveTo>
                  <a:pt x="0" y="0"/>
                </a:moveTo>
                <a:lnTo>
                  <a:pt x="7689157" y="0"/>
                </a:lnTo>
                <a:lnTo>
                  <a:pt x="7689157" y="6399151"/>
                </a:lnTo>
                <a:lnTo>
                  <a:pt x="601997" y="6399151"/>
                </a:lnTo>
                <a:cubicBezTo>
                  <a:pt x="269523" y="6399151"/>
                  <a:pt x="0" y="6129628"/>
                  <a:pt x="0" y="5797155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F01379C-971D-4D8B-ADCA-39625AC2C662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4033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44EE1A0-D83B-FE6C-4495-F55C5070D5D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50327D9-2408-44E4-B596-FA154FA9CB58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6747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696DEB7-ADC8-3E90-7A63-F11D6535D0E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3806246"/>
          </a:xfrm>
          <a:custGeom>
            <a:avLst/>
            <a:gdLst>
              <a:gd name="connsiteX0" fmla="*/ 0 w 11733150"/>
              <a:gd name="connsiteY0" fmla="*/ 0 h 3806246"/>
              <a:gd name="connsiteX1" fmla="*/ 11733150 w 11733150"/>
              <a:gd name="connsiteY1" fmla="*/ 0 h 3806246"/>
              <a:gd name="connsiteX2" fmla="*/ 11733150 w 11733150"/>
              <a:gd name="connsiteY2" fmla="*/ 3204250 h 3806246"/>
              <a:gd name="connsiteX3" fmla="*/ 11131154 w 11733150"/>
              <a:gd name="connsiteY3" fmla="*/ 3806246 h 3806246"/>
              <a:gd name="connsiteX4" fmla="*/ 0 w 11733150"/>
              <a:gd name="connsiteY4" fmla="*/ 3806246 h 3806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3806246">
                <a:moveTo>
                  <a:pt x="0" y="0"/>
                </a:moveTo>
                <a:lnTo>
                  <a:pt x="11733150" y="0"/>
                </a:lnTo>
                <a:lnTo>
                  <a:pt x="11733150" y="3204250"/>
                </a:lnTo>
                <a:cubicBezTo>
                  <a:pt x="11733150" y="3536723"/>
                  <a:pt x="11463627" y="3806246"/>
                  <a:pt x="11131154" y="3806246"/>
                </a:cubicBezTo>
                <a:lnTo>
                  <a:pt x="0" y="380624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48E33-F4BE-47B0-BE14-9039C65A80B0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1053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0558516-7088-BB33-D6DC-15ED4C60CBA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1960" y="3067414"/>
            <a:ext cx="11750040" cy="3790586"/>
          </a:xfrm>
          <a:custGeom>
            <a:avLst/>
            <a:gdLst>
              <a:gd name="connsiteX0" fmla="*/ 603695 w 11750040"/>
              <a:gd name="connsiteY0" fmla="*/ 0 h 3790586"/>
              <a:gd name="connsiteX1" fmla="*/ 11750040 w 11750040"/>
              <a:gd name="connsiteY1" fmla="*/ 0 h 3790586"/>
              <a:gd name="connsiteX2" fmla="*/ 11750040 w 11750040"/>
              <a:gd name="connsiteY2" fmla="*/ 3790586 h 3790586"/>
              <a:gd name="connsiteX3" fmla="*/ 0 w 11750040"/>
              <a:gd name="connsiteY3" fmla="*/ 3790586 h 3790586"/>
              <a:gd name="connsiteX4" fmla="*/ 0 w 11750040"/>
              <a:gd name="connsiteY4" fmla="*/ 603695 h 3790586"/>
              <a:gd name="connsiteX5" fmla="*/ 603695 w 11750040"/>
              <a:gd name="connsiteY5" fmla="*/ 0 h 3790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750040" h="3790586">
                <a:moveTo>
                  <a:pt x="603695" y="0"/>
                </a:moveTo>
                <a:lnTo>
                  <a:pt x="11750040" y="0"/>
                </a:lnTo>
                <a:lnTo>
                  <a:pt x="11750040" y="3790586"/>
                </a:lnTo>
                <a:lnTo>
                  <a:pt x="0" y="3790586"/>
                </a:lnTo>
                <a:lnTo>
                  <a:pt x="0" y="603695"/>
                </a:lnTo>
                <a:cubicBezTo>
                  <a:pt x="0" y="270283"/>
                  <a:pt x="270283" y="0"/>
                  <a:pt x="603695" y="0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40460"/>
            <a:ext cx="3494314" cy="338328"/>
          </a:xfrm>
        </p:spPr>
        <p:txBody>
          <a:bodyPr/>
          <a:lstStyle/>
          <a:p>
            <a:fld id="{A0AD9DF4-F29B-418E-AEA8-7F72F4AF6477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40460"/>
            <a:ext cx="2805405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40460"/>
            <a:ext cx="429207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4803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073E866-A871-62F7-1E54-F2A44278F8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628650" indent="-171450">
              <a:buFont typeface="Arial" panose="020B0604020202020204" pitchFamily="34" charset="0"/>
              <a:buChar char="•"/>
              <a:defRPr sz="1200"/>
            </a:lvl3pPr>
            <a:lvl4pPr marL="857250" indent="-171450">
              <a:buFont typeface="Arial" panose="020B0604020202020204" pitchFamily="34" charset="0"/>
              <a:buChar char="•"/>
              <a:defRPr sz="1100"/>
            </a:lvl4pPr>
            <a:lvl5pPr marL="1085850" indent="-171450"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FA8B246-DC4F-4B87-979C-22D7D0294D33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9401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111854"/>
            <a:ext cx="3945468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84372" y="5111854"/>
            <a:ext cx="6168356" cy="1389888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15B30A2-D0D1-DED2-1133-A673CEA16AE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4724868"/>
          </a:xfrm>
          <a:custGeom>
            <a:avLst/>
            <a:gdLst>
              <a:gd name="connsiteX0" fmla="*/ 0 w 11750040"/>
              <a:gd name="connsiteY0" fmla="*/ 0 h 4724868"/>
              <a:gd name="connsiteX1" fmla="*/ 11750040 w 11750040"/>
              <a:gd name="connsiteY1" fmla="*/ 0 h 4724868"/>
              <a:gd name="connsiteX2" fmla="*/ 11750040 w 11750040"/>
              <a:gd name="connsiteY2" fmla="*/ 4122872 h 4724868"/>
              <a:gd name="connsiteX3" fmla="*/ 11148044 w 11750040"/>
              <a:gd name="connsiteY3" fmla="*/ 4724868 h 4724868"/>
              <a:gd name="connsiteX4" fmla="*/ 0 w 11750040"/>
              <a:gd name="connsiteY4" fmla="*/ 4724868 h 472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50040" h="4724868">
                <a:moveTo>
                  <a:pt x="0" y="0"/>
                </a:moveTo>
                <a:lnTo>
                  <a:pt x="11750040" y="0"/>
                </a:lnTo>
                <a:lnTo>
                  <a:pt x="11750040" y="4122872"/>
                </a:lnTo>
                <a:cubicBezTo>
                  <a:pt x="11750040" y="4455345"/>
                  <a:pt x="11480517" y="4724868"/>
                  <a:pt x="11148044" y="4724868"/>
                </a:cubicBezTo>
                <a:lnTo>
                  <a:pt x="0" y="4724868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B4447-6565-470C-B5AE-C3C09C650A67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9278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1AB8ED2-AD91-CB22-5624-BD41AB32529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844052" cy="6399152"/>
          </a:xfrm>
          <a:custGeom>
            <a:avLst/>
            <a:gdLst>
              <a:gd name="connsiteX0" fmla="*/ 0 w 4844052"/>
              <a:gd name="connsiteY0" fmla="*/ 0 h 6399152"/>
              <a:gd name="connsiteX1" fmla="*/ 4844052 w 4844052"/>
              <a:gd name="connsiteY1" fmla="*/ 0 h 6399152"/>
              <a:gd name="connsiteX2" fmla="*/ 4844052 w 4844052"/>
              <a:gd name="connsiteY2" fmla="*/ 5795922 h 6399152"/>
              <a:gd name="connsiteX3" fmla="*/ 4240822 w 4844052"/>
              <a:gd name="connsiteY3" fmla="*/ 6399152 h 6399152"/>
              <a:gd name="connsiteX4" fmla="*/ 0 w 4844052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052" h="6399152">
                <a:moveTo>
                  <a:pt x="0" y="0"/>
                </a:moveTo>
                <a:lnTo>
                  <a:pt x="4844052" y="0"/>
                </a:lnTo>
                <a:lnTo>
                  <a:pt x="4844052" y="5795922"/>
                </a:lnTo>
                <a:cubicBezTo>
                  <a:pt x="4844052" y="6129077"/>
                  <a:pt x="4573977" y="6399152"/>
                  <a:pt x="4240822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6D35271-D272-4251-9C77-3736AB8D2106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33981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436AA50-FCF9-9A32-68F8-A124C794908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53304" y="0"/>
            <a:ext cx="4838696" cy="6399152"/>
          </a:xfrm>
          <a:custGeom>
            <a:avLst/>
            <a:gdLst>
              <a:gd name="connsiteX0" fmla="*/ 0 w 4838696"/>
              <a:gd name="connsiteY0" fmla="*/ 0 h 6399152"/>
              <a:gd name="connsiteX1" fmla="*/ 4838696 w 4838696"/>
              <a:gd name="connsiteY1" fmla="*/ 0 h 6399152"/>
              <a:gd name="connsiteX2" fmla="*/ 4838696 w 4838696"/>
              <a:gd name="connsiteY2" fmla="*/ 6399152 h 6399152"/>
              <a:gd name="connsiteX3" fmla="*/ 603230 w 4838696"/>
              <a:gd name="connsiteY3" fmla="*/ 6399152 h 6399152"/>
              <a:gd name="connsiteX4" fmla="*/ 0 w 4838696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8696" h="6399152">
                <a:moveTo>
                  <a:pt x="0" y="0"/>
                </a:moveTo>
                <a:lnTo>
                  <a:pt x="4838696" y="0"/>
                </a:lnTo>
                <a:lnTo>
                  <a:pt x="4838696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83617-0F55-47D1-B35F-F186A159F7FB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99458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6B8A8E1B-B99E-8C69-154E-2FAADB07D51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591300" cy="6399152"/>
          </a:xfrm>
          <a:custGeom>
            <a:avLst/>
            <a:gdLst>
              <a:gd name="connsiteX0" fmla="*/ 0 w 6591300"/>
              <a:gd name="connsiteY0" fmla="*/ 0 h 6399152"/>
              <a:gd name="connsiteX1" fmla="*/ 6591300 w 6591300"/>
              <a:gd name="connsiteY1" fmla="*/ 0 h 6399152"/>
              <a:gd name="connsiteX2" fmla="*/ 6591300 w 6591300"/>
              <a:gd name="connsiteY2" fmla="*/ 5797156 h 6399152"/>
              <a:gd name="connsiteX3" fmla="*/ 5989304 w 6591300"/>
              <a:gd name="connsiteY3" fmla="*/ 6399152 h 6399152"/>
              <a:gd name="connsiteX4" fmla="*/ 0 w 6591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399152">
                <a:moveTo>
                  <a:pt x="0" y="0"/>
                </a:moveTo>
                <a:lnTo>
                  <a:pt x="6591300" y="0"/>
                </a:lnTo>
                <a:lnTo>
                  <a:pt x="6591300" y="5797156"/>
                </a:lnTo>
                <a:cubicBezTo>
                  <a:pt x="6591300" y="6129629"/>
                  <a:pt x="6321777" y="6399152"/>
                  <a:pt x="5989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7DF4610-21BE-4DCF-8120-14CBDF27E7EC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9309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BD82EEA-7278-1A73-C95C-473F75B5404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3" y="0"/>
            <a:ext cx="6454407" cy="6399152"/>
          </a:xfrm>
          <a:custGeom>
            <a:avLst/>
            <a:gdLst>
              <a:gd name="connsiteX0" fmla="*/ 0 w 6454407"/>
              <a:gd name="connsiteY0" fmla="*/ 0 h 6399152"/>
              <a:gd name="connsiteX1" fmla="*/ 6454407 w 6454407"/>
              <a:gd name="connsiteY1" fmla="*/ 0 h 6399152"/>
              <a:gd name="connsiteX2" fmla="*/ 6454407 w 6454407"/>
              <a:gd name="connsiteY2" fmla="*/ 6399152 h 6399152"/>
              <a:gd name="connsiteX3" fmla="*/ 601996 w 6454407"/>
              <a:gd name="connsiteY3" fmla="*/ 6399152 h 6399152"/>
              <a:gd name="connsiteX4" fmla="*/ 0 w 6454407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7" h="6399152">
                <a:moveTo>
                  <a:pt x="0" y="0"/>
                </a:moveTo>
                <a:lnTo>
                  <a:pt x="6454407" y="0"/>
                </a:lnTo>
                <a:lnTo>
                  <a:pt x="6454407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B9E1E-829F-4547-8B84-DA04C02CDB47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370787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C22D85-D675-737B-9F54-B9D7FC81919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828800"/>
            <a:ext cx="6707699" cy="5029200"/>
          </a:xfrm>
          <a:custGeom>
            <a:avLst/>
            <a:gdLst>
              <a:gd name="connsiteX0" fmla="*/ 0 w 6707699"/>
              <a:gd name="connsiteY0" fmla="*/ 0 h 5029200"/>
              <a:gd name="connsiteX1" fmla="*/ 6129259 w 6707699"/>
              <a:gd name="connsiteY1" fmla="*/ 0 h 5029200"/>
              <a:gd name="connsiteX2" fmla="*/ 6707699 w 6707699"/>
              <a:gd name="connsiteY2" fmla="*/ 578440 h 5029200"/>
              <a:gd name="connsiteX3" fmla="*/ 6707699 w 6707699"/>
              <a:gd name="connsiteY3" fmla="*/ 5029200 h 5029200"/>
              <a:gd name="connsiteX4" fmla="*/ 0 w 6707699"/>
              <a:gd name="connsiteY4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07699" h="5029200">
                <a:moveTo>
                  <a:pt x="0" y="0"/>
                </a:moveTo>
                <a:lnTo>
                  <a:pt x="6129259" y="0"/>
                </a:lnTo>
                <a:cubicBezTo>
                  <a:pt x="6448723" y="0"/>
                  <a:pt x="6707699" y="258976"/>
                  <a:pt x="6707699" y="578440"/>
                </a:cubicBezTo>
                <a:lnTo>
                  <a:pt x="6707699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89302" y="1828800"/>
            <a:ext cx="4196146" cy="4503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89302" y="6492240"/>
            <a:ext cx="1280160" cy="338328"/>
          </a:xfrm>
        </p:spPr>
        <p:txBody>
          <a:bodyPr/>
          <a:lstStyle/>
          <a:p>
            <a:fld id="{91DA48CD-E932-4271-BD81-64DCBFB455FD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462" y="6492240"/>
            <a:ext cx="288855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903332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B32E518-8213-A79A-7E36-BA4D782F8ED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147926" cy="6399152"/>
          </a:xfrm>
          <a:custGeom>
            <a:avLst/>
            <a:gdLst>
              <a:gd name="connsiteX0" fmla="*/ 0 w 4147926"/>
              <a:gd name="connsiteY0" fmla="*/ 0 h 6399152"/>
              <a:gd name="connsiteX1" fmla="*/ 4147926 w 4147926"/>
              <a:gd name="connsiteY1" fmla="*/ 0 h 6399152"/>
              <a:gd name="connsiteX2" fmla="*/ 4147926 w 4147926"/>
              <a:gd name="connsiteY2" fmla="*/ 5795922 h 6399152"/>
              <a:gd name="connsiteX3" fmla="*/ 3544696 w 4147926"/>
              <a:gd name="connsiteY3" fmla="*/ 6399152 h 6399152"/>
              <a:gd name="connsiteX4" fmla="*/ 0 w 4147926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7926" h="6399152">
                <a:moveTo>
                  <a:pt x="0" y="0"/>
                </a:moveTo>
                <a:lnTo>
                  <a:pt x="4147926" y="0"/>
                </a:lnTo>
                <a:lnTo>
                  <a:pt x="4147926" y="5795922"/>
                </a:lnTo>
                <a:cubicBezTo>
                  <a:pt x="4147926" y="6129077"/>
                  <a:pt x="3877851" y="6399152"/>
                  <a:pt x="3544696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47E1B5D-7AA1-459A-BE62-9DD87CC4DB46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920951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2444857-0BC3-ACAE-DBB1-5D530AA35E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46768" y="0"/>
            <a:ext cx="4145232" cy="6399152"/>
          </a:xfrm>
          <a:custGeom>
            <a:avLst/>
            <a:gdLst>
              <a:gd name="connsiteX0" fmla="*/ 0 w 4145232"/>
              <a:gd name="connsiteY0" fmla="*/ 0 h 6399152"/>
              <a:gd name="connsiteX1" fmla="*/ 4145232 w 4145232"/>
              <a:gd name="connsiteY1" fmla="*/ 0 h 6399152"/>
              <a:gd name="connsiteX2" fmla="*/ 4145232 w 4145232"/>
              <a:gd name="connsiteY2" fmla="*/ 6399152 h 6399152"/>
              <a:gd name="connsiteX3" fmla="*/ 603230 w 4145232"/>
              <a:gd name="connsiteY3" fmla="*/ 6399152 h 6399152"/>
              <a:gd name="connsiteX4" fmla="*/ 0 w 4145232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32" h="6399152">
                <a:moveTo>
                  <a:pt x="0" y="0"/>
                </a:moveTo>
                <a:lnTo>
                  <a:pt x="4145232" y="0"/>
                </a:lnTo>
                <a:lnTo>
                  <a:pt x="4145232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BE4B7-3314-4828-AD3B-753E010665CB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56410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202BC3A-8633-9F03-1586-99447DA1CFF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6"/>
            <a:ext cx="5285232" cy="4564504"/>
          </a:xfrm>
          <a:custGeom>
            <a:avLst/>
            <a:gdLst>
              <a:gd name="connsiteX0" fmla="*/ 0 w 5285232"/>
              <a:gd name="connsiteY0" fmla="*/ 0 h 4564504"/>
              <a:gd name="connsiteX1" fmla="*/ 4706792 w 5285232"/>
              <a:gd name="connsiteY1" fmla="*/ 0 h 4564504"/>
              <a:gd name="connsiteX2" fmla="*/ 5285232 w 5285232"/>
              <a:gd name="connsiteY2" fmla="*/ 578440 h 4564504"/>
              <a:gd name="connsiteX3" fmla="*/ 5285232 w 5285232"/>
              <a:gd name="connsiteY3" fmla="*/ 4564504 h 4564504"/>
              <a:gd name="connsiteX4" fmla="*/ 0 w 5285232"/>
              <a:gd name="connsiteY4" fmla="*/ 4564504 h 4564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5232" h="4564504">
                <a:moveTo>
                  <a:pt x="0" y="0"/>
                </a:moveTo>
                <a:lnTo>
                  <a:pt x="4706792" y="0"/>
                </a:lnTo>
                <a:cubicBezTo>
                  <a:pt x="5026256" y="0"/>
                  <a:pt x="5285232" y="258976"/>
                  <a:pt x="5285232" y="578440"/>
                </a:cubicBezTo>
                <a:lnTo>
                  <a:pt x="5285232" y="4564504"/>
                </a:lnTo>
                <a:lnTo>
                  <a:pt x="0" y="45645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492240"/>
            <a:ext cx="2651760" cy="338328"/>
          </a:xfrm>
        </p:spPr>
        <p:txBody>
          <a:bodyPr/>
          <a:lstStyle/>
          <a:p>
            <a:fld id="{429E77A6-796D-4B03-BDAB-1195CBB13DE5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1134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211327B-3880-6494-1C8F-EEE1BF913B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4"/>
            <a:ext cx="4176819" cy="4564506"/>
          </a:xfrm>
          <a:custGeom>
            <a:avLst/>
            <a:gdLst>
              <a:gd name="connsiteX0" fmla="*/ 0 w 4176819"/>
              <a:gd name="connsiteY0" fmla="*/ 0 h 4564506"/>
              <a:gd name="connsiteX1" fmla="*/ 3598379 w 4176819"/>
              <a:gd name="connsiteY1" fmla="*/ 0 h 4564506"/>
              <a:gd name="connsiteX2" fmla="*/ 4176819 w 4176819"/>
              <a:gd name="connsiteY2" fmla="*/ 578440 h 4564506"/>
              <a:gd name="connsiteX3" fmla="*/ 4176819 w 4176819"/>
              <a:gd name="connsiteY3" fmla="*/ 4564506 h 4564506"/>
              <a:gd name="connsiteX4" fmla="*/ 0 w 4176819"/>
              <a:gd name="connsiteY4" fmla="*/ 4564506 h 4564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6819" h="4564506">
                <a:moveTo>
                  <a:pt x="0" y="0"/>
                </a:moveTo>
                <a:lnTo>
                  <a:pt x="3598379" y="0"/>
                </a:lnTo>
                <a:cubicBezTo>
                  <a:pt x="3917843" y="0"/>
                  <a:pt x="4176819" y="258976"/>
                  <a:pt x="4176819" y="578440"/>
                </a:cubicBezTo>
                <a:lnTo>
                  <a:pt x="4176819" y="4564506"/>
                </a:lnTo>
                <a:lnTo>
                  <a:pt x="0" y="456450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15073" y="6492240"/>
            <a:ext cx="2843784" cy="338328"/>
          </a:xfrm>
        </p:spPr>
        <p:txBody>
          <a:bodyPr/>
          <a:lstStyle/>
          <a:p>
            <a:fld id="{4797E4AD-A7F5-460A-9BB3-22A7BE62D363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7518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76" y="603504"/>
            <a:ext cx="11201400" cy="4206240"/>
          </a:xfrm>
        </p:spPr>
        <p:txBody>
          <a:bodyPr>
            <a:normAutofit/>
          </a:bodyPr>
          <a:lstStyle>
            <a:lvl1pPr algn="ctr">
              <a:defRPr sz="27800"/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11761-5D79-4602-944E-3CBFB3528533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89888" y="4809744"/>
            <a:ext cx="9345168" cy="1225296"/>
          </a:xfrm>
        </p:spPr>
        <p:txBody>
          <a:bodyPr>
            <a:normAutofit/>
          </a:bodyPr>
          <a:lstStyle>
            <a:lvl1pPr marL="0" indent="0" algn="ctr">
              <a:buNone/>
              <a:defRPr sz="2800" cap="all" baseline="0"/>
            </a:lvl1pPr>
            <a:lvl2pPr marL="228600" indent="0" algn="ctr">
              <a:buNone/>
              <a:defRPr sz="2400" cap="all" baseline="0"/>
            </a:lvl2pPr>
            <a:lvl3pPr marL="457200" indent="0" algn="ctr">
              <a:buNone/>
              <a:defRPr sz="2000" cap="all" baseline="0"/>
            </a:lvl3pPr>
            <a:lvl4pPr marL="685800" indent="0" algn="ctr">
              <a:buNone/>
              <a:defRPr sz="1800" cap="all" baseline="0"/>
            </a:lvl4pPr>
            <a:lvl5pPr marL="914400" indent="0" algn="ctr">
              <a:buNone/>
              <a:defRPr sz="1600" cap="all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522356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F61352-F1B4-4B81-BB93-6A8BDFDC8249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490472"/>
          </a:xfrm>
        </p:spPr>
        <p:txBody>
          <a:bodyPr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454622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193DB7D-955F-21DF-15DA-4285375617FC}"/>
              </a:ext>
            </a:extLst>
          </p:cNvPr>
          <p:cNvSpPr/>
          <p:nvPr userDrawn="1"/>
        </p:nvSpPr>
        <p:spPr>
          <a:xfrm>
            <a:off x="1" y="4783948"/>
            <a:ext cx="11762231" cy="2074052"/>
          </a:xfrm>
          <a:custGeom>
            <a:avLst/>
            <a:gdLst>
              <a:gd name="connsiteX0" fmla="*/ 0 w 11762231"/>
              <a:gd name="connsiteY0" fmla="*/ 0 h 2074052"/>
              <a:gd name="connsiteX1" fmla="*/ 112775 w 11762231"/>
              <a:gd name="connsiteY1" fmla="*/ 0 h 2074052"/>
              <a:gd name="connsiteX2" fmla="*/ 11102489 w 11762231"/>
              <a:gd name="connsiteY2" fmla="*/ 0 h 2074052"/>
              <a:gd name="connsiteX3" fmla="*/ 11437005 w 11762231"/>
              <a:gd name="connsiteY3" fmla="*/ 0 h 2074052"/>
              <a:gd name="connsiteX4" fmla="*/ 11762231 w 11762231"/>
              <a:gd name="connsiteY4" fmla="*/ 325226 h 2074052"/>
              <a:gd name="connsiteX5" fmla="*/ 11762231 w 11762231"/>
              <a:gd name="connsiteY5" fmla="*/ 2074052 h 2074052"/>
              <a:gd name="connsiteX6" fmla="*/ 11427715 w 11762231"/>
              <a:gd name="connsiteY6" fmla="*/ 2074052 h 2074052"/>
              <a:gd name="connsiteX7" fmla="*/ 112775 w 11762231"/>
              <a:gd name="connsiteY7" fmla="*/ 2074052 h 2074052"/>
              <a:gd name="connsiteX8" fmla="*/ 0 w 11762231"/>
              <a:gd name="connsiteY8" fmla="*/ 2074052 h 207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62231" h="2074052">
                <a:moveTo>
                  <a:pt x="0" y="0"/>
                </a:moveTo>
                <a:lnTo>
                  <a:pt x="112775" y="0"/>
                </a:lnTo>
                <a:lnTo>
                  <a:pt x="11102489" y="0"/>
                </a:lnTo>
                <a:lnTo>
                  <a:pt x="11437005" y="0"/>
                </a:lnTo>
                <a:cubicBezTo>
                  <a:pt x="11616622" y="0"/>
                  <a:pt x="11762231" y="145609"/>
                  <a:pt x="11762231" y="325226"/>
                </a:cubicBezTo>
                <a:lnTo>
                  <a:pt x="11762231" y="2074052"/>
                </a:lnTo>
                <a:lnTo>
                  <a:pt x="11427715" y="2074052"/>
                </a:lnTo>
                <a:lnTo>
                  <a:pt x="112775" y="2074052"/>
                </a:lnTo>
                <a:lnTo>
                  <a:pt x="0" y="2074052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72CCDF-2A1E-4429-93E5-8FE2C869CF19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0768" y="6492240"/>
            <a:ext cx="266090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3112" y="6492240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589420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515091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18B81-79F0-4606-BEFD-F6455E47D5F9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4679942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60B29AE-EBEF-71CC-AE38-3B2CD14FCA19}"/>
              </a:ext>
            </a:extLst>
          </p:cNvPr>
          <p:cNvSpPr/>
          <p:nvPr userDrawn="1"/>
        </p:nvSpPr>
        <p:spPr>
          <a:xfrm rot="5400000" flipV="1">
            <a:off x="-2566724" y="2566724"/>
            <a:ext cx="6399213" cy="1265765"/>
          </a:xfrm>
          <a:custGeom>
            <a:avLst/>
            <a:gdLst>
              <a:gd name="connsiteX0" fmla="*/ 0 w 6399213"/>
              <a:gd name="connsiteY0" fmla="*/ 0 h 1265765"/>
              <a:gd name="connsiteX1" fmla="*/ 0 w 6399213"/>
              <a:gd name="connsiteY1" fmla="*/ 1265765 h 1265765"/>
              <a:gd name="connsiteX2" fmla="*/ 5982881 w 6399213"/>
              <a:gd name="connsiteY2" fmla="*/ 1265765 h 1265765"/>
              <a:gd name="connsiteX3" fmla="*/ 6399213 w 6399213"/>
              <a:gd name="connsiteY3" fmla="*/ 849433 h 1265765"/>
              <a:gd name="connsiteX4" fmla="*/ 6399213 w 6399213"/>
              <a:gd name="connsiteY4" fmla="*/ 0 h 1265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9213" h="1265765">
                <a:moveTo>
                  <a:pt x="0" y="0"/>
                </a:moveTo>
                <a:lnTo>
                  <a:pt x="0" y="1265765"/>
                </a:lnTo>
                <a:lnTo>
                  <a:pt x="5982881" y="1265765"/>
                </a:lnTo>
                <a:cubicBezTo>
                  <a:pt x="6212815" y="1265765"/>
                  <a:pt x="6399213" y="1079367"/>
                  <a:pt x="6399213" y="849433"/>
                </a:cubicBezTo>
                <a:lnTo>
                  <a:pt x="6399213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EFDED-E64C-40FD-9437-5EB186B503F4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98217" y="630935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2740734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CEC059F-651D-D540-DF60-D6361D9C716B}"/>
              </a:ext>
            </a:extLst>
          </p:cNvPr>
          <p:cNvSpPr/>
          <p:nvPr userDrawn="1"/>
        </p:nvSpPr>
        <p:spPr>
          <a:xfrm flipV="1">
            <a:off x="1" y="6099048"/>
            <a:ext cx="10487111" cy="758952"/>
          </a:xfrm>
          <a:custGeom>
            <a:avLst/>
            <a:gdLst>
              <a:gd name="connsiteX0" fmla="*/ 0 w 10487111"/>
              <a:gd name="connsiteY0" fmla="*/ 758952 h 758952"/>
              <a:gd name="connsiteX1" fmla="*/ 10070779 w 10487111"/>
              <a:gd name="connsiteY1" fmla="*/ 758952 h 758952"/>
              <a:gd name="connsiteX2" fmla="*/ 10487111 w 10487111"/>
              <a:gd name="connsiteY2" fmla="*/ 342620 h 758952"/>
              <a:gd name="connsiteX3" fmla="*/ 10487111 w 10487111"/>
              <a:gd name="connsiteY3" fmla="*/ 0 h 758952"/>
              <a:gd name="connsiteX4" fmla="*/ 0 w 10487111"/>
              <a:gd name="connsiteY4" fmla="*/ 0 h 758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87111" h="758952">
                <a:moveTo>
                  <a:pt x="0" y="758952"/>
                </a:moveTo>
                <a:lnTo>
                  <a:pt x="10070779" y="758952"/>
                </a:lnTo>
                <a:cubicBezTo>
                  <a:pt x="10300713" y="758952"/>
                  <a:pt x="10487111" y="572554"/>
                  <a:pt x="10487111" y="342620"/>
                </a:cubicBezTo>
                <a:lnTo>
                  <a:pt x="1048711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A27F3-A86D-44FE-8D32-F271BA70A247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683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06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83464" y="1596767"/>
            <a:ext cx="9537192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6000" b="1"/>
            </a:lvl1pPr>
            <a:lvl2pPr marL="228600" indent="0">
              <a:lnSpc>
                <a:spcPct val="100000"/>
              </a:lnSpc>
              <a:buNone/>
              <a:defRPr sz="5400" b="1"/>
            </a:lvl2pPr>
            <a:lvl3pPr marL="457200" indent="0">
              <a:lnSpc>
                <a:spcPct val="100000"/>
              </a:lnSpc>
              <a:buNone/>
              <a:defRPr sz="4800" b="1"/>
            </a:lvl3pPr>
            <a:lvl4pPr marL="685800" indent="0">
              <a:lnSpc>
                <a:spcPct val="100000"/>
              </a:lnSpc>
              <a:buNone/>
              <a:defRPr sz="4400" b="1"/>
            </a:lvl4pPr>
            <a:lvl5pPr marL="914400" indent="0">
              <a:lnSpc>
                <a:spcPct val="100000"/>
              </a:lnSpc>
              <a:buNone/>
              <a:defRPr sz="40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6953858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1524002"/>
            <a:ext cx="9198864" cy="2871216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40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16A1B-42B9-4B7F-973A-A721B4B01391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5376672"/>
            <a:ext cx="9198864" cy="466344"/>
          </a:xfrm>
        </p:spPr>
        <p:txBody>
          <a:bodyPr>
            <a:normAutofit/>
          </a:bodyPr>
          <a:lstStyle>
            <a:lvl1pPr marL="0" indent="0">
              <a:buNone/>
              <a:defRPr sz="2200" b="1" cap="all" baseline="0">
                <a:solidFill>
                  <a:schemeClr val="accent1"/>
                </a:solidFill>
              </a:defRPr>
            </a:lvl1pPr>
            <a:lvl2pPr marL="228600" indent="0">
              <a:buNone/>
              <a:defRPr sz="2000" b="1" cap="all" baseline="0">
                <a:solidFill>
                  <a:schemeClr val="accent1"/>
                </a:solidFill>
              </a:defRPr>
            </a:lvl2pPr>
            <a:lvl3pPr marL="457200" indent="0">
              <a:buNone/>
              <a:defRPr sz="1800" b="1" cap="all" baseline="0">
                <a:solidFill>
                  <a:schemeClr val="accent1"/>
                </a:solidFill>
              </a:defRPr>
            </a:lvl3pPr>
            <a:lvl4pPr marL="685800" indent="0">
              <a:buNone/>
              <a:defRPr sz="1600" b="1" cap="all" baseline="0">
                <a:solidFill>
                  <a:schemeClr val="accent1"/>
                </a:solidFill>
              </a:defRPr>
            </a:lvl4pPr>
            <a:lvl5pPr marL="914400" indent="0">
              <a:buNone/>
              <a:defRPr sz="1400" b="1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51860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9D41517-889E-CBB7-FD17-C5FECA783B2A}"/>
              </a:ext>
            </a:extLst>
          </p:cNvPr>
          <p:cNvSpPr/>
          <p:nvPr userDrawn="1"/>
        </p:nvSpPr>
        <p:spPr>
          <a:xfrm flipV="1">
            <a:off x="0" y="823828"/>
            <a:ext cx="11385608" cy="6034172"/>
          </a:xfrm>
          <a:custGeom>
            <a:avLst/>
            <a:gdLst>
              <a:gd name="connsiteX0" fmla="*/ 0 w 11385608"/>
              <a:gd name="connsiteY0" fmla="*/ 6034172 h 6034172"/>
              <a:gd name="connsiteX1" fmla="*/ 10969276 w 11385608"/>
              <a:gd name="connsiteY1" fmla="*/ 6034172 h 6034172"/>
              <a:gd name="connsiteX2" fmla="*/ 11385608 w 11385608"/>
              <a:gd name="connsiteY2" fmla="*/ 5617840 h 6034172"/>
              <a:gd name="connsiteX3" fmla="*/ 11385608 w 11385608"/>
              <a:gd name="connsiteY3" fmla="*/ 0 h 6034172"/>
              <a:gd name="connsiteX4" fmla="*/ 0 w 11385608"/>
              <a:gd name="connsiteY4" fmla="*/ 0 h 6034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85608" h="6034172">
                <a:moveTo>
                  <a:pt x="0" y="6034172"/>
                </a:moveTo>
                <a:lnTo>
                  <a:pt x="10969276" y="6034172"/>
                </a:lnTo>
                <a:cubicBezTo>
                  <a:pt x="11199210" y="6034172"/>
                  <a:pt x="11385608" y="5847774"/>
                  <a:pt x="11385608" y="5617840"/>
                </a:cubicBezTo>
                <a:lnTo>
                  <a:pt x="1138560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9768" y="1783080"/>
            <a:ext cx="8499079" cy="2249424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CE9DE-566C-4814-8048-C47E68CD01FC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124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1468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5120640"/>
            <a:ext cx="5431536" cy="1289304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b="1" cap="all" baseline="0" dirty="0"/>
            </a:lvl1pPr>
            <a:lvl2pPr marL="228600" indent="0">
              <a:buNone/>
              <a:defRPr lang="en-US" b="1" cap="all" baseline="0" dirty="0"/>
            </a:lvl2pPr>
            <a:lvl3pPr marL="457200" indent="0">
              <a:buNone/>
              <a:defRPr lang="en-US" b="1" cap="all" baseline="0" dirty="0"/>
            </a:lvl3pPr>
            <a:lvl4pPr marL="685800" indent="0">
              <a:buNone/>
              <a:defRPr lang="en-US" b="1" cap="all" baseline="0" dirty="0"/>
            </a:lvl4pPr>
            <a:lvl5pPr marL="914400" indent="0">
              <a:buNone/>
              <a:defRPr lang="en-US" b="1" cap="all" baseline="0" dirty="0"/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98195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864FC-7FB8-48B0-8A60-C53C66249DC5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42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8430768" cy="1828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8337A-79CF-4F81-BDDF-0BFF8C7D1FA5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9889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78C515B-8D5A-0268-9044-7B2013C87E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9767" y="2020825"/>
            <a:ext cx="5212208" cy="42847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3C7061A-8ED7-8B72-BD2B-2DF67F8C7A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622" y="2020822"/>
            <a:ext cx="5212208" cy="42847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EEE48-B654-4F40-94B5-6CAA2AEE688E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77984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211279F-0D05-3637-19CD-29468F4DD2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1134"/>
            <a:ext cx="5211762" cy="43431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1B170DE-636A-B1A9-2EAB-C426DBFB3E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15AD1-BF63-43A5-9078-5635003D87DC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60269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713996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FA23F0E6-EDAF-3A7F-5EC8-F911E9AE48E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02843" y="0"/>
            <a:ext cx="7689157" cy="6399152"/>
          </a:xfrm>
          <a:custGeom>
            <a:avLst/>
            <a:gdLst>
              <a:gd name="connsiteX0" fmla="*/ 0 w 7689157"/>
              <a:gd name="connsiteY0" fmla="*/ 0 h 6399152"/>
              <a:gd name="connsiteX1" fmla="*/ 7689157 w 7689157"/>
              <a:gd name="connsiteY1" fmla="*/ 0 h 6399152"/>
              <a:gd name="connsiteX2" fmla="*/ 7689157 w 7689157"/>
              <a:gd name="connsiteY2" fmla="*/ 6399152 h 6399152"/>
              <a:gd name="connsiteX3" fmla="*/ 578440 w 7689157"/>
              <a:gd name="connsiteY3" fmla="*/ 6399152 h 6399152"/>
              <a:gd name="connsiteX4" fmla="*/ 0 w 7689157"/>
              <a:gd name="connsiteY4" fmla="*/ 582071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2">
                <a:moveTo>
                  <a:pt x="0" y="0"/>
                </a:moveTo>
                <a:lnTo>
                  <a:pt x="7689157" y="0"/>
                </a:lnTo>
                <a:lnTo>
                  <a:pt x="7689157" y="6399152"/>
                </a:lnTo>
                <a:lnTo>
                  <a:pt x="578440" y="6399152"/>
                </a:lnTo>
                <a:cubicBezTo>
                  <a:pt x="258976" y="6399152"/>
                  <a:pt x="0" y="6140176"/>
                  <a:pt x="0" y="582071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43E5-C1C8-41E2-B1AC-3A2A4F6AD61D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273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3" y="285210"/>
            <a:ext cx="10653578" cy="9651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1384847"/>
            <a:ext cx="10653579" cy="4905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31172" y="6490524"/>
            <a:ext cx="2841959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0A53C74A-06E5-4AC5-9A5D-83143F68952D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3370" y="6490524"/>
            <a:ext cx="2662834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8431" y="6490524"/>
            <a:ext cx="457200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352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13BD4-546F-8CB3-951A-74FDFAE20C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172" y="3425399"/>
            <a:ext cx="7685140" cy="2621154"/>
          </a:xfrm>
        </p:spPr>
        <p:txBody>
          <a:bodyPr anchor="b">
            <a:normAutofit/>
          </a:bodyPr>
          <a:lstStyle/>
          <a:p>
            <a:r>
              <a:rPr lang="en-US" sz="4500"/>
              <a:t>Overcoming Barriers to Implementing a Just, Learning Culture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6B5337-5ADD-D6CC-AD72-9B02F149B9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172" y="415057"/>
            <a:ext cx="7685139" cy="1414091"/>
          </a:xfrm>
        </p:spPr>
        <p:txBody>
          <a:bodyPr>
            <a:normAutofit/>
          </a:bodyPr>
          <a:lstStyle/>
          <a:p>
            <a:r>
              <a:rPr lang="en-US"/>
              <a:t>Addressing challenges to promote fairness and growth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529B04-E120-5BF0-9B30-8E6C17717C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3B49096-5771-4C67-A487-D26C67CE0E27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DBC13-0D43-DCC4-0A72-F241503C8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4C450F2-3BB4-4AE4-8A35-A9D7AEA4C850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849867-857C-2016-6640-9A8C14F49F72}"/>
              </a:ext>
            </a:extLst>
          </p:cNvPr>
          <p:cNvSpPr txBox="1"/>
          <p:nvPr/>
        </p:nvSpPr>
        <p:spPr>
          <a:xfrm>
            <a:off x="9294778" y="6305858"/>
            <a:ext cx="415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Amanda Wedergren</a:t>
            </a:r>
          </a:p>
        </p:txBody>
      </p:sp>
    </p:spTree>
    <p:extLst>
      <p:ext uri="{BB962C8B-B14F-4D97-AF65-F5344CB8AC3E}">
        <p14:creationId xmlns:p14="http://schemas.microsoft.com/office/powerpoint/2010/main" val="2367581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3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A2A41-5111-4BF9-6AFE-839117DDC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000" b="0" kern="1200" cap="all" baseline="0">
                <a:latin typeface="+mj-lt"/>
                <a:ea typeface="+mj-ea"/>
                <a:cs typeface="+mj-cs"/>
              </a:rPr>
              <a:t>Introduction to Just, Learning Culture</a:t>
            </a:r>
          </a:p>
        </p:txBody>
      </p:sp>
      <p:pic>
        <p:nvPicPr>
          <p:cNvPr id="7" name="Content Placeholder 6" descr="Shot of a businesswoman giving a presentation in the boardroom">
            <a:extLst>
              <a:ext uri="{FF2B5EF4-FFF2-40B4-BE49-F238E27FC236}">
                <a16:creationId xmlns:a16="http://schemas.microsoft.com/office/drawing/2014/main" id="{DD1D2C69-E7D4-4387-AA6E-3CA7A9667FF5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5850" r="13473" b="1"/>
          <a:stretch>
            <a:fillRect/>
          </a:stretch>
        </p:blipFill>
        <p:spPr>
          <a:xfrm>
            <a:off x="20" y="10"/>
            <a:ext cx="7734280" cy="6399142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2F9F391-8605-4FA0-B086-8BCC1F6D964A}"/>
              </a:ext>
            </a:extLst>
          </p:cNvPr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8311896" y="3099816"/>
            <a:ext cx="3273552" cy="295351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000" b="1"/>
              <a:t>Accountability Over Blame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000"/>
              <a:t>Emphasizes accountability and learning instead of focusing on assigning blame for mistakes.</a:t>
            </a:r>
          </a:p>
          <a:p>
            <a:pPr mar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000" b="1"/>
              <a:t>Open Communication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000"/>
              <a:t>Encourages transparent and honest communication among team members to foster trust.</a:t>
            </a:r>
          </a:p>
          <a:p>
            <a:pPr mar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000" b="1"/>
              <a:t>Continuous Improvement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000"/>
              <a:t>Focuses on ongoing learning and improvement to boost safety and performance.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0E503-9EF0-46CE-97ED-DED9FF108FA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F592E60-B5FA-4DDD-9188-42E8C94AED64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5637F-3418-5208-060D-10810D75E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4C450F2-3BB4-4AE4-8A35-A9D7AEA4C850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9623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A1165-396C-1A27-2077-731BBC080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293302"/>
            <a:ext cx="11125032" cy="965101"/>
          </a:xfrm>
        </p:spPr>
        <p:txBody>
          <a:bodyPr anchor="b">
            <a:normAutofit/>
          </a:bodyPr>
          <a:lstStyle/>
          <a:p>
            <a:r>
              <a:rPr lang="en-US"/>
              <a:t>Defining 'Just Culture' And Its Importance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B60A2D-57F4-697B-F22C-EE0091E9C9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E5AE3D7-82EF-4AC7-8175-C03783411B8C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89D10-B9AF-237C-BB08-478946C77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4C450F2-3BB4-4AE4-8A35-A9D7AEA4C850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graphicFrame>
        <p:nvGraphicFramePr>
          <p:cNvPr id="7" name="Content Placeholder 7">
            <a:extLst>
              <a:ext uri="{FF2B5EF4-FFF2-40B4-BE49-F238E27FC236}">
                <a16:creationId xmlns:a16="http://schemas.microsoft.com/office/drawing/2014/main" id="{7AEE03AB-85EB-4C3F-B527-2B1D1E103E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4360420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VisualTitledTextBox"/>
                  </p202:designTagLst>
                </p202:designPr>
              </p:ext>
            </p:extLst>
          </p:nvPr>
        </p:nvGraphicFramePr>
        <p:xfrm>
          <a:off x="431172" y="1384847"/>
          <a:ext cx="11125032" cy="49051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3305005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F8E40-F6B7-8A89-719F-3511A3B9A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000" b="0" kern="1200" cap="all" baseline="0">
                <a:latin typeface="+mj-lt"/>
                <a:ea typeface="+mj-ea"/>
                <a:cs typeface="+mj-cs"/>
              </a:rPr>
              <a:t>Common Barriers to Implementation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4AC435-645D-44F1-BABA-A60ABD8CD6F2}"/>
              </a:ext>
            </a:extLst>
          </p:cNvPr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29768" y="1380744"/>
            <a:ext cx="6858000" cy="498348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 b="1"/>
              <a:t>Entrenched Organizational Norms</a:t>
            </a:r>
          </a:p>
          <a:p>
            <a:pPr marL="0" lvl="1" indent="0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/>
              <a:t>Deeply rooted customs and norms within organizations hinder change and the adoption of new practices.</a:t>
            </a:r>
          </a:p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 b="1"/>
              <a:t>Fear of Punishment</a:t>
            </a:r>
          </a:p>
          <a:p>
            <a:pPr marL="0" lvl="1" indent="0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/>
              <a:t>Employees may avoid taking risks due to fear of negative consequences, limiting innovation and openness.</a:t>
            </a:r>
          </a:p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 b="1"/>
              <a:t>Lack of Trust</a:t>
            </a:r>
          </a:p>
          <a:p>
            <a:pPr marL="0" lvl="1" indent="0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/>
              <a:t>Insufficient trust between team members obstructs collaboration and open communication.</a:t>
            </a:r>
          </a:p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 b="1"/>
              <a:t>Communication Silos and Hierarchies</a:t>
            </a:r>
          </a:p>
          <a:p>
            <a:pPr marL="0" lvl="1" indent="0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/>
              <a:t>Rigid hierarchies and isolated communication block transparent dialogue and organizational learning.</a:t>
            </a:r>
          </a:p>
        </p:txBody>
      </p:sp>
      <p:pic>
        <p:nvPicPr>
          <p:cNvPr id="7" name="Content Placeholder 6" descr="Shot of a businessman holding on to a bunch of cryptocurrency balloons on top of a graph against a white background">
            <a:extLst>
              <a:ext uri="{FF2B5EF4-FFF2-40B4-BE49-F238E27FC236}">
                <a16:creationId xmlns:a16="http://schemas.microsoft.com/office/drawing/2014/main" id="{587203CF-E2D3-43F2-B4A8-2DF603DB18C6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41085" r="3367" b="-2"/>
          <a:stretch>
            <a:fillRect/>
          </a:stretch>
        </p:blipFill>
        <p:spPr>
          <a:xfrm>
            <a:off x="8046768" y="10"/>
            <a:ext cx="4145232" cy="6399142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E14B3F-1393-F09A-BB75-FCC372EA62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B7BA963-24AB-4D43-A4B0-2FFEE344E2D6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644DA-1C79-C99D-B646-49DDE469E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4C450F2-3BB4-4AE4-8A35-A9D7AEA4C850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77108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7E3ED-BDC5-71F9-BE28-026B1B04D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500" b="0" kern="1200" cap="all" baseline="0">
                <a:latin typeface="+mj-lt"/>
                <a:ea typeface="+mj-ea"/>
                <a:cs typeface="+mj-cs"/>
              </a:rPr>
              <a:t>Organizational Resistance to Change</a:t>
            </a:r>
          </a:p>
        </p:txBody>
      </p:sp>
      <p:pic>
        <p:nvPicPr>
          <p:cNvPr id="7" name="Content Placeholder 6" descr="Blue and orange chess pieces over white background.">
            <a:extLst>
              <a:ext uri="{FF2B5EF4-FFF2-40B4-BE49-F238E27FC236}">
                <a16:creationId xmlns:a16="http://schemas.microsoft.com/office/drawing/2014/main" id="{B4BD73F0-4B99-43E5-9AFE-05B4677911E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1238" r="18086" b="1"/>
          <a:stretch>
            <a:fillRect/>
          </a:stretch>
        </p:blipFill>
        <p:spPr>
          <a:xfrm>
            <a:off x="20" y="10"/>
            <a:ext cx="7734280" cy="6399142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4935142-FBD0-4483-A8AD-8A8B50AB54C5}"/>
              </a:ext>
            </a:extLst>
          </p:cNvPr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8311896" y="3099816"/>
            <a:ext cx="3273552" cy="295351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000" b="1"/>
              <a:t>Causes of Resistance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000"/>
              <a:t>Resistance stems from comfort with current processes and fear of unknown changes.</a:t>
            </a:r>
          </a:p>
          <a:p>
            <a:pPr mar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000" b="1"/>
              <a:t>Fear and Authority Threats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000"/>
              <a:t>Fear of the unknown and perceived threats to authority fuel organizational resistance.</a:t>
            </a:r>
          </a:p>
          <a:p>
            <a:pPr mar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000" b="1"/>
              <a:t>Overcoming Resistance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000"/>
              <a:t>Leadership commitment and clear communication of benefits help overcome resistance.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E8553-F053-8760-468E-2F0248D0F7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3E667C3-609B-44EC-B43D-E28C5F4A20FC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5C6F3-CC66-CFE7-1A4F-488FC0023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4C450F2-3BB4-4AE4-8A35-A9D7AEA4C850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16774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17C32-89CB-7E01-D985-CFDCF18C0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500" b="0" kern="1200" cap="all" baseline="0">
                <a:latin typeface="+mj-lt"/>
                <a:ea typeface="+mj-ea"/>
                <a:cs typeface="+mj-cs"/>
              </a:rPr>
              <a:t>Fear of Retribution and Lack of Psychological Safety</a:t>
            </a:r>
          </a:p>
        </p:txBody>
      </p:sp>
      <p:pic>
        <p:nvPicPr>
          <p:cNvPr id="7" name="Content Placeholder 6" descr="&quot;The boss is annoyed with two of her employees.For more business images, please click here:&quot;">
            <a:extLst>
              <a:ext uri="{FF2B5EF4-FFF2-40B4-BE49-F238E27FC236}">
                <a16:creationId xmlns:a16="http://schemas.microsoft.com/office/drawing/2014/main" id="{B7203860-99C6-4584-946B-B7BE9BE0287F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31179" r="188" b="2"/>
          <a:stretch>
            <a:fillRect/>
          </a:stretch>
        </p:blipFill>
        <p:spPr>
          <a:xfrm>
            <a:off x="20" y="1"/>
            <a:ext cx="6591280" cy="6410303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FD4C12D-1BE9-4E02-B04C-8D42E1BE035C}"/>
              </a:ext>
            </a:extLst>
          </p:cNvPr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7196328" y="2276856"/>
            <a:ext cx="4389120" cy="404164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 b="1"/>
              <a:t>Fear Inhibits Reporting</a:t>
            </a:r>
          </a:p>
          <a:p>
            <a:pPr marL="0" lvl="1" indent="0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/>
              <a:t>Fear of punishment prevents employees from reporting mistakes, risking repeated errors and safety issues.</a:t>
            </a:r>
          </a:p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 b="1"/>
              <a:t>Importance of Psychological Safety</a:t>
            </a:r>
          </a:p>
          <a:p>
            <a:pPr marL="0" lvl="1" indent="0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/>
              <a:t>Psychological safety encourages open communication and transparency, fostering a supportive learning environment.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DC0A8-6B69-2FC4-9DCD-4CC1B38A25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928C7B4F-D3F4-41FD-9A8B-19A96A32FDD1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7E0C78-0C4C-7B3F-95FB-C2583F0A3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4C450F2-3BB4-4AE4-8A35-A9D7AEA4C850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98424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9E80C-4173-0F24-FBBB-A6A46137D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700" b="0" kern="1200" cap="all" baseline="0">
                <a:latin typeface="+mj-lt"/>
                <a:ea typeface="+mj-ea"/>
                <a:cs typeface="+mj-cs"/>
              </a:rPr>
              <a:t>Communication Gaps and Hierarchical Structures</a:t>
            </a:r>
          </a:p>
        </p:txBody>
      </p:sp>
      <p:pic>
        <p:nvPicPr>
          <p:cNvPr id="7" name="Content Placeholder 6" descr="File folder big data internet network cloud computing">
            <a:extLst>
              <a:ext uri="{FF2B5EF4-FFF2-40B4-BE49-F238E27FC236}">
                <a16:creationId xmlns:a16="http://schemas.microsoft.com/office/drawing/2014/main" id="{971FA92B-964B-42BF-B50A-7831399A0E77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11857" r="12604" b="2"/>
          <a:stretch>
            <a:fillRect/>
          </a:stretch>
        </p:blipFill>
        <p:spPr>
          <a:xfrm>
            <a:off x="20" y="10"/>
            <a:ext cx="7734280" cy="6399142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E86941E-D240-4EBD-AF2D-2C79FA04BD9D}"/>
              </a:ext>
            </a:extLst>
          </p:cNvPr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8311896" y="3099816"/>
            <a:ext cx="3273552" cy="295351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000" b="1"/>
              <a:t>Impact of Rigid Hierarchies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000"/>
              <a:t>Rigid hierarchies can block information flow and limit open discussions about errors in organizations.</a:t>
            </a:r>
          </a:p>
          <a:p>
            <a:pPr mar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000" b="1"/>
              <a:t>Importance of Communication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000"/>
              <a:t>Effective communication channels encourage transparency and foster problem-solving in teams.</a:t>
            </a:r>
          </a:p>
          <a:p>
            <a:pPr mar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000" b="1"/>
              <a:t>Flattening Structures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000"/>
              <a:t>Flattening organizational structures helps improve information flow and supports collaborative environments.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A0E87B-EA0A-95A1-9A7C-D891DB71CF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140F028-7FDD-4A54-9677-232654B1C086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12C9F-72FC-3802-977F-E98814568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4C450F2-3BB4-4AE4-8A35-A9D7AEA4C850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92545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4545A-ED3E-7A4A-D03D-669F74163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0" kern="1200" cap="all" baseline="0">
                <a:latin typeface="+mj-lt"/>
                <a:ea typeface="+mj-ea"/>
                <a:cs typeface="+mj-cs"/>
              </a:rPr>
              <a:t>Strategies to Overcome Barriers</a:t>
            </a:r>
          </a:p>
        </p:txBody>
      </p:sp>
      <p:pic>
        <p:nvPicPr>
          <p:cNvPr id="7" name="Content Placeholder 6" descr="3d concept to show a choice of progress.">
            <a:extLst>
              <a:ext uri="{FF2B5EF4-FFF2-40B4-BE49-F238E27FC236}">
                <a16:creationId xmlns:a16="http://schemas.microsoft.com/office/drawing/2014/main" id="{35F253F4-6CA9-405A-BD90-72BAC4B4FF46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2684" r="11344" b="2"/>
          <a:stretch>
            <a:fillRect/>
          </a:stretch>
        </p:blipFill>
        <p:spPr>
          <a:xfrm>
            <a:off x="20" y="2293496"/>
            <a:ext cx="5285212" cy="4564504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5F3734D-DBC1-4A5A-97EF-7A1421E5C61F}"/>
              </a:ext>
            </a:extLst>
          </p:cNvPr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096000" y="549275"/>
            <a:ext cx="5585925" cy="578326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 b="1"/>
              <a:t>Leadership Modeling</a:t>
            </a:r>
          </a:p>
          <a:p>
            <a:pPr marL="0" lvl="1" indent="0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/>
              <a:t>Leaders demonstrate Just Culture behaviors to set a positive example within the organization.</a:t>
            </a:r>
          </a:p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 b="1"/>
              <a:t>Training and Education</a:t>
            </a:r>
          </a:p>
          <a:p>
            <a:pPr marL="0" lvl="1" indent="0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/>
              <a:t>Providing staff with training improves understanding and application of Just Culture principles.</a:t>
            </a:r>
          </a:p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 b="1"/>
              <a:t>Clear Policies</a:t>
            </a:r>
          </a:p>
          <a:p>
            <a:pPr marL="0" lvl="1" indent="0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/>
              <a:t>Establishing clear policies guides consistent behavior and expectations across the organization.</a:t>
            </a:r>
          </a:p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 b="1"/>
              <a:t>Encouraging Communication</a:t>
            </a:r>
          </a:p>
          <a:p>
            <a:pPr marL="0" lvl="1" indent="0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/>
              <a:t>Open communication channels foster trust and psychological safety among team members.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2A293-6D0F-2333-3E8B-FFD0EE2A3A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492240"/>
            <a:ext cx="2651760" cy="3383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D24D64F-4C5D-4D6A-B458-0B7EC1172284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CA91C-D83F-C132-B7A0-868984C3D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4C450F2-3BB4-4AE4-8A35-A9D7AEA4C850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76876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8AF98-36FD-7FBE-C8F7-67E71DBF3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8430768" cy="1842020"/>
          </a:xfrm>
        </p:spPr>
        <p:txBody>
          <a:bodyPr anchor="b">
            <a:normAutofit/>
          </a:bodyPr>
          <a:lstStyle/>
          <a:p>
            <a:r>
              <a:rPr lang="en-US"/>
              <a:t>Conclusion</a:t>
            </a:r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B757111B-A954-4C77-3EC7-9D7DE6FA1483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936666036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GraphicFramePr>
        <p:xfrm>
          <a:off x="429768" y="3622673"/>
          <a:ext cx="8430768" cy="1828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9F964-201D-7DE2-1D20-71D0A56F4C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8CB786B-CF31-4748-B37C-0AF800EDC8D2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2A8E9-DD3D-D05D-3873-C84CDA23E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4C450F2-3BB4-4AE4-8A35-A9D7AEA4C850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379266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0D46B-4C35-E65C-61AB-25FCE451F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82E2B-9B6C-F17F-8F28-CEFD910B0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8430768" cy="1842020"/>
          </a:xfrm>
        </p:spPr>
        <p:txBody>
          <a:bodyPr anchor="b">
            <a:normAutofit/>
          </a:bodyPr>
          <a:lstStyle/>
          <a:p>
            <a:r>
              <a:rPr lang="en-US" dirty="0"/>
              <a:t>References</a:t>
            </a:r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D396D7F5-785D-EC7D-8544-6E8F0F3A9F74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051258304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GraphicFramePr>
        <p:xfrm>
          <a:off x="429768" y="3622673"/>
          <a:ext cx="8430768" cy="1828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907D09-81F1-ADD5-BB9A-688810E9B7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11/25/2025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27348-CE74-9A63-D48B-EEACB3A9D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4C450F2-3BB4-4AE4-8A35-A9D7AEA4C850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401292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asisVTI">
  <a:themeElements>
    <a:clrScheme name="Oasis">
      <a:dk1>
        <a:srgbClr val="131313"/>
      </a:dk1>
      <a:lt1>
        <a:sysClr val="window" lastClr="FFFFFF"/>
      </a:lt1>
      <a:dk2>
        <a:srgbClr val="3D3C33"/>
      </a:dk2>
      <a:lt2>
        <a:srgbClr val="F0EDE6"/>
      </a:lt2>
      <a:accent1>
        <a:srgbClr val="A57361"/>
      </a:accent1>
      <a:accent2>
        <a:srgbClr val="BE8856"/>
      </a:accent2>
      <a:accent3>
        <a:srgbClr val="BD9075"/>
      </a:accent3>
      <a:accent4>
        <a:srgbClr val="939081"/>
      </a:accent4>
      <a:accent5>
        <a:srgbClr val="A16D4C"/>
      </a:accent5>
      <a:accent6>
        <a:srgbClr val="8C8662"/>
      </a:accent6>
      <a:hlink>
        <a:srgbClr val="A57361"/>
      </a:hlink>
      <a:folHlink>
        <a:srgbClr val="8C8662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asis_win32_DN_V3" id="{65F5DFDA-B6D8-4F37-85B8-E95C858FA146}" vid="{998F2FB7-179B-41D4-99FF-60A4C828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10274</TotalTime>
  <Words>503</Words>
  <Application>Microsoft Office PowerPoint</Application>
  <PresentationFormat>Widescreen</PresentationFormat>
  <Paragraphs>92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Neue Haas Grotesk Text Pro</vt:lpstr>
      <vt:lpstr>OasisVTI</vt:lpstr>
      <vt:lpstr>Overcoming Barriers to Implementing a Just, Learning Culture</vt:lpstr>
      <vt:lpstr>Introduction to Just, Learning Culture</vt:lpstr>
      <vt:lpstr>Defining 'Just Culture' And Its Importance</vt:lpstr>
      <vt:lpstr>Common Barriers to Implementation</vt:lpstr>
      <vt:lpstr>Organizational Resistance to Change</vt:lpstr>
      <vt:lpstr>Fear of Retribution and Lack of Psychological Safety</vt:lpstr>
      <vt:lpstr>Communication Gaps and Hierarchical Structures</vt:lpstr>
      <vt:lpstr>Strategies to Overcome Barriers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Amanda Wedergren</dc:creator>
  <cp:lastModifiedBy>Amanda Wedergren</cp:lastModifiedBy>
  <cp:revision>1</cp:revision>
  <dcterms:created xsi:type="dcterms:W3CDTF">2025-11-23T13:39:37Z</dcterms:created>
  <dcterms:modified xsi:type="dcterms:W3CDTF">2025-11-30T16:53:53Z</dcterms:modified>
</cp:coreProperties>
</file>