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1" r:id="rId2"/>
    <p:sldId id="2562" r:id="rId3"/>
    <p:sldId id="2563" r:id="rId4"/>
    <p:sldId id="2564" r:id="rId5"/>
    <p:sldId id="2565" r:id="rId6"/>
    <p:sldId id="2566" r:id="rId7"/>
    <p:sldId id="2567" r:id="rId8"/>
    <p:sldId id="2568" r:id="rId9"/>
    <p:sldId id="2569" r:id="rId10"/>
    <p:sldId id="25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6" autoAdjust="0"/>
    <p:restoredTop sz="94660"/>
  </p:normalViewPr>
  <p:slideViewPr>
    <p:cSldViewPr snapToGrid="0">
      <p:cViewPr varScale="1">
        <p:scale>
          <a:sx n="79" d="100"/>
          <a:sy n="79" d="100"/>
        </p:scale>
        <p:origin x="63" y="7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8C2494-8CE8-4488-A968-18E14348E235}" type="doc">
      <dgm:prSet loTypeId="urn:microsoft.com/office/officeart/2024/3/layout/verticalVisualTextBlock1" loCatId="Picture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FD357D45-612D-4B9A-9E89-08CB36608B3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Just Culture Framework</a:t>
          </a:r>
        </a:p>
      </dgm:t>
    </dgm:pt>
    <dgm:pt modelId="{75F57EDB-7B9B-4C7D-958B-7D17BE777831}" type="parTrans" cxnId="{3FF7AE37-F58C-4CBB-8181-E9192B471372}">
      <dgm:prSet/>
      <dgm:spPr/>
      <dgm:t>
        <a:bodyPr/>
        <a:lstStyle/>
        <a:p>
          <a:endParaRPr lang="en-US"/>
        </a:p>
      </dgm:t>
    </dgm:pt>
    <dgm:pt modelId="{2B3AC961-E4BB-4951-8E05-4157661A6CC9}" type="sibTrans" cxnId="{3FF7AE37-F58C-4CBB-8181-E9192B471372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5BDA253D-D0C8-414D-B1CC-6264EEE1B8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Just Culture balances accountability with a non-punitive approach to handling errors and mistakes in organizations.</a:t>
          </a:r>
        </a:p>
      </dgm:t>
    </dgm:pt>
    <dgm:pt modelId="{D1F3826F-18CF-4D9B-A743-2E4EEC0A6EBF}" type="parTrans" cxnId="{B415191B-98FA-493E-B380-4A146FA2713E}">
      <dgm:prSet/>
      <dgm:spPr/>
      <dgm:t>
        <a:bodyPr/>
        <a:lstStyle/>
        <a:p>
          <a:endParaRPr lang="en-US"/>
        </a:p>
      </dgm:t>
    </dgm:pt>
    <dgm:pt modelId="{500A90EC-F495-48CF-AD4E-8CC6F7DADF7D}" type="sibTrans" cxnId="{B415191B-98FA-493E-B380-4A146FA2713E}">
      <dgm:prSet/>
      <dgm:spPr/>
      <dgm:t>
        <a:bodyPr/>
        <a:lstStyle/>
        <a:p>
          <a:endParaRPr lang="en-US"/>
        </a:p>
      </dgm:t>
    </dgm:pt>
    <dgm:pt modelId="{648D514E-664A-49AF-98A0-5698289A723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Safe Reporting Environment</a:t>
          </a:r>
        </a:p>
      </dgm:t>
    </dgm:pt>
    <dgm:pt modelId="{6934672B-B0D8-4B7B-AEDC-792FA1339DC0}" type="parTrans" cxnId="{B8960C63-C523-4C1C-B220-6837B4D877E7}">
      <dgm:prSet/>
      <dgm:spPr/>
      <dgm:t>
        <a:bodyPr/>
        <a:lstStyle/>
        <a:p>
          <a:endParaRPr lang="en-US"/>
        </a:p>
      </dgm:t>
    </dgm:pt>
    <dgm:pt modelId="{0B8E94E2-4622-4A60-9E38-61AD17AB5DDC}" type="sibTrans" cxnId="{B8960C63-C523-4C1C-B220-6837B4D877E7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DC6097AE-9B4C-455F-A555-6BE51E3F96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creates a safe environment for employees to report mistakes without fear of punishment or blame.</a:t>
          </a:r>
        </a:p>
      </dgm:t>
    </dgm:pt>
    <dgm:pt modelId="{3D885E89-13C1-47FE-B901-F6BDCB7736F1}" type="parTrans" cxnId="{01DBBB5B-8D82-4842-8EE3-0907D25AB2F2}">
      <dgm:prSet/>
      <dgm:spPr/>
      <dgm:t>
        <a:bodyPr/>
        <a:lstStyle/>
        <a:p>
          <a:endParaRPr lang="en-US"/>
        </a:p>
      </dgm:t>
    </dgm:pt>
    <dgm:pt modelId="{B9A4348E-964C-45F3-99FD-0C40A6DCB95D}" type="sibTrans" cxnId="{01DBBB5B-8D82-4842-8EE3-0907D25AB2F2}">
      <dgm:prSet/>
      <dgm:spPr/>
      <dgm:t>
        <a:bodyPr/>
        <a:lstStyle/>
        <a:p>
          <a:endParaRPr lang="en-US"/>
        </a:p>
      </dgm:t>
    </dgm:pt>
    <dgm:pt modelId="{B6A3D56A-4198-4724-8305-7A2592B8A13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Improved Learning and Safety</a:t>
          </a:r>
        </a:p>
      </dgm:t>
    </dgm:pt>
    <dgm:pt modelId="{317A536B-B097-46DC-AFC4-0D63917E3F7C}" type="parTrans" cxnId="{C9685FE8-14C2-493A-AE42-29022C9C4D8B}">
      <dgm:prSet/>
      <dgm:spPr/>
      <dgm:t>
        <a:bodyPr/>
        <a:lstStyle/>
        <a:p>
          <a:endParaRPr lang="en-US"/>
        </a:p>
      </dgm:t>
    </dgm:pt>
    <dgm:pt modelId="{135A970F-3B9E-4B69-BEF9-B36CA717BBF0}" type="sibTrans" cxnId="{C9685FE8-14C2-493A-AE42-29022C9C4D8B}">
      <dgm:prSet/>
      <dgm:spPr/>
      <dgm:t>
        <a:bodyPr/>
        <a:lstStyle/>
        <a:p>
          <a:endParaRPr lang="en-US"/>
        </a:p>
      </dgm:t>
    </dgm:pt>
    <dgm:pt modelId="{2E8A6B46-AF81-47EB-A725-2BEE60DE03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Encouraging open reporting leads to better organizational learning and safer operational practices.</a:t>
          </a:r>
        </a:p>
      </dgm:t>
    </dgm:pt>
    <dgm:pt modelId="{5EFE27AF-3BD3-4030-BA14-D5343B32C759}" type="parTrans" cxnId="{9E58972B-BC68-4E7B-9738-868FBC7DA9A8}">
      <dgm:prSet/>
      <dgm:spPr/>
      <dgm:t>
        <a:bodyPr/>
        <a:lstStyle/>
        <a:p>
          <a:endParaRPr lang="en-US"/>
        </a:p>
      </dgm:t>
    </dgm:pt>
    <dgm:pt modelId="{235B570C-F34F-4F78-9E4C-824FCA327597}" type="sibTrans" cxnId="{9E58972B-BC68-4E7B-9738-868FBC7DA9A8}">
      <dgm:prSet/>
      <dgm:spPr/>
      <dgm:t>
        <a:bodyPr/>
        <a:lstStyle/>
        <a:p>
          <a:endParaRPr lang="en-US"/>
        </a:p>
      </dgm:t>
    </dgm:pt>
    <dgm:pt modelId="{9FC7C9E3-7878-4A04-B5DF-31A5AB92A166}" type="pres">
      <dgm:prSet presAssocID="{A48C2494-8CE8-4488-A968-18E14348E235}" presName="Root" presStyleCnt="0">
        <dgm:presLayoutVars>
          <dgm:dir/>
          <dgm:resizeHandles val="exact"/>
        </dgm:presLayoutVars>
      </dgm:prSet>
      <dgm:spPr/>
    </dgm:pt>
    <dgm:pt modelId="{67975428-5AB4-4C14-8D03-3A95849FB43D}" type="pres">
      <dgm:prSet presAssocID="{FD357D45-612D-4B9A-9E89-08CB36608B36}" presName="Composite" presStyleCnt="0"/>
      <dgm:spPr/>
    </dgm:pt>
    <dgm:pt modelId="{2CCA5016-5D85-4D6D-8D9F-CC4F22CFC168}" type="pres">
      <dgm:prSet presAssocID="{FD357D45-612D-4B9A-9E89-08CB36608B36}" presName="Picture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-1"/>
          <a:stretch/>
        </a:blipFill>
      </dgm:spPr>
      <dgm:extLst>
        <a:ext uri="{E40237B7-FDA0-4F09-8148-C483321AD2D9}">
          <dgm14:cNvPr xmlns:dgm14="http://schemas.microsoft.com/office/drawing/2010/diagram" id="0" name="" descr="Concept image to illustrate balancing faith and retirement savings on a balance scale. White background with shadow reflected on white foreground. Cropped to rule of thirds and ready to use."/>
        </a:ext>
      </dgm:extLst>
    </dgm:pt>
    <dgm:pt modelId="{9098137E-8EEE-4F0C-A074-72E91A2DDE64}" type="pres">
      <dgm:prSet presAssocID="{FD357D45-612D-4B9A-9E89-08CB36608B36}" presName="Subtitle" presStyleLbl="revTx" presStyleIdx="0" presStyleCnt="6">
        <dgm:presLayoutVars>
          <dgm:chMax val="0"/>
          <dgm:bulletEnabled/>
        </dgm:presLayoutVars>
      </dgm:prSet>
      <dgm:spPr/>
    </dgm:pt>
    <dgm:pt modelId="{ABFC344B-DC4C-4B97-A870-91EA82F5CCD8}" type="pres">
      <dgm:prSet presAssocID="{FD357D45-612D-4B9A-9E89-08CB36608B36}" presName="Description" presStyleLbl="revTx" presStyleIdx="1" presStyleCnt="6">
        <dgm:presLayoutVars>
          <dgm:bulletEnabled/>
        </dgm:presLayoutVars>
      </dgm:prSet>
      <dgm:spPr/>
    </dgm:pt>
    <dgm:pt modelId="{7CE3EA92-A36A-48EE-994E-AB7AF1E94873}" type="pres">
      <dgm:prSet presAssocID="{2B3AC961-E4BB-4951-8E05-4157661A6CC9}" presName="sibTrans" presStyleLbl="sibTrans2D1" presStyleIdx="0" presStyleCnt="0"/>
      <dgm:spPr/>
    </dgm:pt>
    <dgm:pt modelId="{D5F1C489-D669-4FE9-9103-B6D1B4C0DF6E}" type="pres">
      <dgm:prSet presAssocID="{648D514E-664A-49AF-98A0-5698289A7237}" presName="Composite" presStyleCnt="0"/>
      <dgm:spPr/>
    </dgm:pt>
    <dgm:pt modelId="{F6BF0ABE-AFAB-4DC5-A807-8223F4ED09A1}" type="pres">
      <dgm:prSet presAssocID="{648D514E-664A-49AF-98A0-5698289A7237}" presName="Picture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25" r="9128" b="4"/>
          <a:stretch/>
        </a:blipFill>
      </dgm:spPr>
      <dgm:extLst>
        <a:ext uri="{E40237B7-FDA0-4F09-8148-C483321AD2D9}">
          <dgm14:cNvPr xmlns:dgm14="http://schemas.microsoft.com/office/drawing/2010/diagram" id="0" name="" descr="Business team brainstorming"/>
        </a:ext>
      </dgm:extLst>
    </dgm:pt>
    <dgm:pt modelId="{111F1CA0-A13D-42B3-A77F-95BE1F73C8E5}" type="pres">
      <dgm:prSet presAssocID="{648D514E-664A-49AF-98A0-5698289A7237}" presName="Subtitle" presStyleLbl="revTx" presStyleIdx="2" presStyleCnt="6">
        <dgm:presLayoutVars>
          <dgm:chMax val="0"/>
          <dgm:bulletEnabled/>
        </dgm:presLayoutVars>
      </dgm:prSet>
      <dgm:spPr/>
    </dgm:pt>
    <dgm:pt modelId="{29D6F775-4D4A-4895-BCC6-4304AC7ED016}" type="pres">
      <dgm:prSet presAssocID="{648D514E-664A-49AF-98A0-5698289A7237}" presName="Description" presStyleLbl="revTx" presStyleIdx="3" presStyleCnt="6">
        <dgm:presLayoutVars>
          <dgm:bulletEnabled/>
        </dgm:presLayoutVars>
      </dgm:prSet>
      <dgm:spPr/>
    </dgm:pt>
    <dgm:pt modelId="{113B054E-F078-4A87-9369-928EAC14D3A0}" type="pres">
      <dgm:prSet presAssocID="{0B8E94E2-4622-4A60-9E38-61AD17AB5DDC}" presName="sibTrans" presStyleLbl="sibTrans2D1" presStyleIdx="0" presStyleCnt="0"/>
      <dgm:spPr/>
    </dgm:pt>
    <dgm:pt modelId="{8221B7C4-64F9-45C1-BEE2-F745658762D7}" type="pres">
      <dgm:prSet presAssocID="{B6A3D56A-4198-4724-8305-7A2592B8A13B}" presName="Composite" presStyleCnt="0"/>
      <dgm:spPr/>
    </dgm:pt>
    <dgm:pt modelId="{6145D488-9F2D-4753-972A-C32193475BF4}" type="pres">
      <dgm:prSet presAssocID="{B6A3D56A-4198-4724-8305-7A2592B8A13B}" presName="Picture" presStyleLbl="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50" r="8302" b="4"/>
          <a:stretch/>
        </a:blipFill>
      </dgm:spPr>
      <dgm:extLst>
        <a:ext uri="{E40237B7-FDA0-4F09-8148-C483321AD2D9}">
          <dgm14:cNvPr xmlns:dgm14="http://schemas.microsoft.com/office/drawing/2010/diagram" id="0" name="" descr="High angle close-up of young African construction site foreman shaking hands with bearded mature Caucasian project manager holding travel mug."/>
        </a:ext>
      </dgm:extLst>
    </dgm:pt>
    <dgm:pt modelId="{08571837-E51C-464D-9D5E-D203D136F86D}" type="pres">
      <dgm:prSet presAssocID="{B6A3D56A-4198-4724-8305-7A2592B8A13B}" presName="Subtitle" presStyleLbl="revTx" presStyleIdx="4" presStyleCnt="6">
        <dgm:presLayoutVars>
          <dgm:chMax val="0"/>
          <dgm:bulletEnabled/>
        </dgm:presLayoutVars>
      </dgm:prSet>
      <dgm:spPr/>
    </dgm:pt>
    <dgm:pt modelId="{22F96F5C-DCA1-45DF-859B-2107FA97EBF0}" type="pres">
      <dgm:prSet presAssocID="{B6A3D56A-4198-4724-8305-7A2592B8A13B}" presName="Description" presStyleLbl="revTx" presStyleIdx="5" presStyleCnt="6">
        <dgm:presLayoutVars>
          <dgm:bulletEnabled/>
        </dgm:presLayoutVars>
      </dgm:prSet>
      <dgm:spPr/>
    </dgm:pt>
  </dgm:ptLst>
  <dgm:cxnLst>
    <dgm:cxn modelId="{B415191B-98FA-493E-B380-4A146FA2713E}" srcId="{FD357D45-612D-4B9A-9E89-08CB36608B36}" destId="{5BDA253D-D0C8-414D-B1CC-6264EEE1B852}" srcOrd="0" destOrd="0" parTransId="{D1F3826F-18CF-4D9B-A743-2E4EEC0A6EBF}" sibTransId="{500A90EC-F495-48CF-AD4E-8CC6F7DADF7D}"/>
    <dgm:cxn modelId="{9E58972B-BC68-4E7B-9738-868FBC7DA9A8}" srcId="{B6A3D56A-4198-4724-8305-7A2592B8A13B}" destId="{2E8A6B46-AF81-47EB-A725-2BEE60DE03F4}" srcOrd="0" destOrd="0" parTransId="{5EFE27AF-3BD3-4030-BA14-D5343B32C759}" sibTransId="{235B570C-F34F-4F78-9E4C-824FCA327597}"/>
    <dgm:cxn modelId="{3FF7AE37-F58C-4CBB-8181-E9192B471372}" srcId="{A48C2494-8CE8-4488-A968-18E14348E235}" destId="{FD357D45-612D-4B9A-9E89-08CB36608B36}" srcOrd="0" destOrd="0" parTransId="{75F57EDB-7B9B-4C7D-958B-7D17BE777831}" sibTransId="{2B3AC961-E4BB-4951-8E05-4157661A6CC9}"/>
    <dgm:cxn modelId="{3AD56B39-2697-4CA0-A830-19FBD0A2CD52}" type="presOf" srcId="{FD357D45-612D-4B9A-9E89-08CB36608B36}" destId="{9098137E-8EEE-4F0C-A074-72E91A2DDE64}" srcOrd="0" destOrd="0" presId="urn:microsoft.com/office/officeart/2024/3/layout/verticalVisualTextBlock1"/>
    <dgm:cxn modelId="{01DBBB5B-8D82-4842-8EE3-0907D25AB2F2}" srcId="{648D514E-664A-49AF-98A0-5698289A7237}" destId="{DC6097AE-9B4C-455F-A555-6BE51E3F96B9}" srcOrd="0" destOrd="0" parTransId="{3D885E89-13C1-47FE-B901-F6BDCB7736F1}" sibTransId="{B9A4348E-964C-45F3-99FD-0C40A6DCB95D}"/>
    <dgm:cxn modelId="{B8960C63-C523-4C1C-B220-6837B4D877E7}" srcId="{A48C2494-8CE8-4488-A968-18E14348E235}" destId="{648D514E-664A-49AF-98A0-5698289A7237}" srcOrd="1" destOrd="0" parTransId="{6934672B-B0D8-4B7B-AEDC-792FA1339DC0}" sibTransId="{0B8E94E2-4622-4A60-9E38-61AD17AB5DDC}"/>
    <dgm:cxn modelId="{EB941B53-30D7-4132-B067-CF18996FAB32}" type="presOf" srcId="{648D514E-664A-49AF-98A0-5698289A7237}" destId="{111F1CA0-A13D-42B3-A77F-95BE1F73C8E5}" srcOrd="0" destOrd="0" presId="urn:microsoft.com/office/officeart/2024/3/layout/verticalVisualTextBlock1"/>
    <dgm:cxn modelId="{80D7F998-9799-4007-8000-F55B56EF4944}" type="presOf" srcId="{A48C2494-8CE8-4488-A968-18E14348E235}" destId="{9FC7C9E3-7878-4A04-B5DF-31A5AB92A166}" srcOrd="0" destOrd="0" presId="urn:microsoft.com/office/officeart/2024/3/layout/verticalVisualTextBlock1"/>
    <dgm:cxn modelId="{774102B4-094B-4479-A2A7-0B984763AEC2}" type="presOf" srcId="{2B3AC961-E4BB-4951-8E05-4157661A6CC9}" destId="{7CE3EA92-A36A-48EE-994E-AB7AF1E94873}" srcOrd="0" destOrd="0" presId="urn:microsoft.com/office/officeart/2024/3/layout/verticalVisualTextBlock1"/>
    <dgm:cxn modelId="{671FE5B7-0B7E-4A40-94BA-3954E2BEDD46}" type="presOf" srcId="{0B8E94E2-4622-4A60-9E38-61AD17AB5DDC}" destId="{113B054E-F078-4A87-9369-928EAC14D3A0}" srcOrd="0" destOrd="0" presId="urn:microsoft.com/office/officeart/2024/3/layout/verticalVisualTextBlock1"/>
    <dgm:cxn modelId="{B326B0C6-58D1-4729-A2E4-58866F923333}" type="presOf" srcId="{B6A3D56A-4198-4724-8305-7A2592B8A13B}" destId="{08571837-E51C-464D-9D5E-D203D136F86D}" srcOrd="0" destOrd="0" presId="urn:microsoft.com/office/officeart/2024/3/layout/verticalVisualTextBlock1"/>
    <dgm:cxn modelId="{018C7EDA-841D-43BB-A211-ED305B273C1A}" type="presOf" srcId="{DC6097AE-9B4C-455F-A555-6BE51E3F96B9}" destId="{29D6F775-4D4A-4895-BCC6-4304AC7ED016}" srcOrd="0" destOrd="0" presId="urn:microsoft.com/office/officeart/2024/3/layout/verticalVisualTextBlock1"/>
    <dgm:cxn modelId="{0A4BE2E7-D384-4999-8603-48D12D895215}" type="presOf" srcId="{2E8A6B46-AF81-47EB-A725-2BEE60DE03F4}" destId="{22F96F5C-DCA1-45DF-859B-2107FA97EBF0}" srcOrd="0" destOrd="0" presId="urn:microsoft.com/office/officeart/2024/3/layout/verticalVisualTextBlock1"/>
    <dgm:cxn modelId="{C9685FE8-14C2-493A-AE42-29022C9C4D8B}" srcId="{A48C2494-8CE8-4488-A968-18E14348E235}" destId="{B6A3D56A-4198-4724-8305-7A2592B8A13B}" srcOrd="2" destOrd="0" parTransId="{317A536B-B097-46DC-AFC4-0D63917E3F7C}" sibTransId="{135A970F-3B9E-4B69-BEF9-B36CA717BBF0}"/>
    <dgm:cxn modelId="{8F777AFB-B27E-438B-9045-57988095E4D1}" type="presOf" srcId="{5BDA253D-D0C8-414D-B1CC-6264EEE1B852}" destId="{ABFC344B-DC4C-4B97-A870-91EA82F5CCD8}" srcOrd="0" destOrd="0" presId="urn:microsoft.com/office/officeart/2024/3/layout/verticalVisualTextBlock1"/>
    <dgm:cxn modelId="{87ACFAD5-3992-4004-90F0-A8E2F7ECD7BD}" type="presParOf" srcId="{9FC7C9E3-7878-4A04-B5DF-31A5AB92A166}" destId="{67975428-5AB4-4C14-8D03-3A95849FB43D}" srcOrd="0" destOrd="0" presId="urn:microsoft.com/office/officeart/2024/3/layout/verticalVisualTextBlock1"/>
    <dgm:cxn modelId="{CF771F84-2949-4CAF-9BA0-BE58225CE96C}" type="presParOf" srcId="{67975428-5AB4-4C14-8D03-3A95849FB43D}" destId="{2CCA5016-5D85-4D6D-8D9F-CC4F22CFC168}" srcOrd="0" destOrd="0" presId="urn:microsoft.com/office/officeart/2024/3/layout/verticalVisualTextBlock1"/>
    <dgm:cxn modelId="{5720BCDE-CDAA-491B-B152-6C27B86A7E99}" type="presParOf" srcId="{67975428-5AB4-4C14-8D03-3A95849FB43D}" destId="{9098137E-8EEE-4F0C-A074-72E91A2DDE64}" srcOrd="1" destOrd="0" presId="urn:microsoft.com/office/officeart/2024/3/layout/verticalVisualTextBlock1"/>
    <dgm:cxn modelId="{809689FF-9FD6-4FD1-BAA8-9E633503BBEC}" type="presParOf" srcId="{67975428-5AB4-4C14-8D03-3A95849FB43D}" destId="{ABFC344B-DC4C-4B97-A870-91EA82F5CCD8}" srcOrd="2" destOrd="0" presId="urn:microsoft.com/office/officeart/2024/3/layout/verticalVisualTextBlock1"/>
    <dgm:cxn modelId="{008E0CF5-CA39-4D9A-8DC2-75AD4F5BFDFF}" type="presParOf" srcId="{9FC7C9E3-7878-4A04-B5DF-31A5AB92A166}" destId="{7CE3EA92-A36A-48EE-994E-AB7AF1E94873}" srcOrd="1" destOrd="0" presId="urn:microsoft.com/office/officeart/2024/3/layout/verticalVisualTextBlock1"/>
    <dgm:cxn modelId="{0F1A6E52-9F63-4976-B828-EA778457A521}" type="presParOf" srcId="{9FC7C9E3-7878-4A04-B5DF-31A5AB92A166}" destId="{D5F1C489-D669-4FE9-9103-B6D1B4C0DF6E}" srcOrd="2" destOrd="0" presId="urn:microsoft.com/office/officeart/2024/3/layout/verticalVisualTextBlock1"/>
    <dgm:cxn modelId="{CC0B6439-462F-4B16-9ACB-DF6568A6CBA7}" type="presParOf" srcId="{D5F1C489-D669-4FE9-9103-B6D1B4C0DF6E}" destId="{F6BF0ABE-AFAB-4DC5-A807-8223F4ED09A1}" srcOrd="0" destOrd="0" presId="urn:microsoft.com/office/officeart/2024/3/layout/verticalVisualTextBlock1"/>
    <dgm:cxn modelId="{6B72E57A-B9B2-43D8-AA99-E82577B0277C}" type="presParOf" srcId="{D5F1C489-D669-4FE9-9103-B6D1B4C0DF6E}" destId="{111F1CA0-A13D-42B3-A77F-95BE1F73C8E5}" srcOrd="1" destOrd="0" presId="urn:microsoft.com/office/officeart/2024/3/layout/verticalVisualTextBlock1"/>
    <dgm:cxn modelId="{A4A12000-7BB7-46D4-AFAB-076D24D5DC4D}" type="presParOf" srcId="{D5F1C489-D669-4FE9-9103-B6D1B4C0DF6E}" destId="{29D6F775-4D4A-4895-BCC6-4304AC7ED016}" srcOrd="2" destOrd="0" presId="urn:microsoft.com/office/officeart/2024/3/layout/verticalVisualTextBlock1"/>
    <dgm:cxn modelId="{1045DF56-398A-4A2F-931B-75076B746F6D}" type="presParOf" srcId="{9FC7C9E3-7878-4A04-B5DF-31A5AB92A166}" destId="{113B054E-F078-4A87-9369-928EAC14D3A0}" srcOrd="3" destOrd="0" presId="urn:microsoft.com/office/officeart/2024/3/layout/verticalVisualTextBlock1"/>
    <dgm:cxn modelId="{FDD27EF1-112C-4373-93E6-B1AEA3B7A357}" type="presParOf" srcId="{9FC7C9E3-7878-4A04-B5DF-31A5AB92A166}" destId="{8221B7C4-64F9-45C1-BEE2-F745658762D7}" srcOrd="4" destOrd="0" presId="urn:microsoft.com/office/officeart/2024/3/layout/verticalVisualTextBlock1"/>
    <dgm:cxn modelId="{44A31549-2E9C-4D9C-8B4A-3424E4282EF6}" type="presParOf" srcId="{8221B7C4-64F9-45C1-BEE2-F745658762D7}" destId="{6145D488-9F2D-4753-972A-C32193475BF4}" srcOrd="0" destOrd="0" presId="urn:microsoft.com/office/officeart/2024/3/layout/verticalVisualTextBlock1"/>
    <dgm:cxn modelId="{AF4967C4-3242-4F10-903F-57204D2A210B}" type="presParOf" srcId="{8221B7C4-64F9-45C1-BEE2-F745658762D7}" destId="{08571837-E51C-464D-9D5E-D203D136F86D}" srcOrd="1" destOrd="0" presId="urn:microsoft.com/office/officeart/2024/3/layout/verticalVisualTextBlock1"/>
    <dgm:cxn modelId="{48408EC3-1784-41C8-BFB5-C0AF208CA02C}" type="presParOf" srcId="{8221B7C4-64F9-45C1-BEE2-F745658762D7}" destId="{22F96F5C-DCA1-45DF-859B-2107FA97EBF0}" srcOrd="2" destOrd="0" presId="urn:microsoft.com/office/officeart/2024/3/layout/verticalVisualTextBlock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E048E4-C0A8-4D9C-8CF1-EBEEAC8A7E9B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83F91B-5DA0-47E2-ABCB-435974A1652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Understanding Barriers</a:t>
          </a:r>
        </a:p>
      </dgm:t>
    </dgm:pt>
    <dgm:pt modelId="{465F31E6-F578-436A-BFA4-AE5159634CD3}" type="parTrans" cxnId="{67E83A5F-A55C-4B79-8DD3-A3D207131655}">
      <dgm:prSet/>
      <dgm:spPr/>
      <dgm:t>
        <a:bodyPr/>
        <a:lstStyle/>
        <a:p>
          <a:endParaRPr lang="en-US"/>
        </a:p>
      </dgm:t>
    </dgm:pt>
    <dgm:pt modelId="{F1208FD8-7689-4AA4-90D3-A4895C298B74}" type="sibTrans" cxnId="{67E83A5F-A55C-4B79-8DD3-A3D207131655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2D9BDFDA-C706-41F7-9A9B-6D5802C455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Recognizing and addressing barriers is essential to successfully implement a Just, Learning Culture in organizations.</a:t>
          </a:r>
        </a:p>
      </dgm:t>
    </dgm:pt>
    <dgm:pt modelId="{EB0B0241-F138-4E0D-BE3F-72416C15EF1D}" type="parTrans" cxnId="{8B0CA0B2-3D80-4303-A6E3-62F6A1CD2C64}">
      <dgm:prSet/>
      <dgm:spPr/>
      <dgm:t>
        <a:bodyPr/>
        <a:lstStyle/>
        <a:p>
          <a:endParaRPr lang="en-US"/>
        </a:p>
      </dgm:t>
    </dgm:pt>
    <dgm:pt modelId="{369925D4-82DA-40E8-B5E7-F52EE47AE67D}" type="sibTrans" cxnId="{8B0CA0B2-3D80-4303-A6E3-62F6A1CD2C64}">
      <dgm:prSet/>
      <dgm:spPr/>
      <dgm:t>
        <a:bodyPr/>
        <a:lstStyle/>
        <a:p>
          <a:endParaRPr lang="en-US"/>
        </a:p>
      </dgm:t>
    </dgm:pt>
    <dgm:pt modelId="{A14A0C50-C500-4073-B9E5-DAE331EB852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Committed Leadership</a:t>
          </a:r>
        </a:p>
      </dgm:t>
    </dgm:pt>
    <dgm:pt modelId="{082186C9-304A-464D-B8EE-4518D6781D9D}" type="parTrans" cxnId="{2A2678DC-EC41-48AF-9EAF-AB22BD500068}">
      <dgm:prSet/>
      <dgm:spPr/>
      <dgm:t>
        <a:bodyPr/>
        <a:lstStyle/>
        <a:p>
          <a:endParaRPr lang="en-US"/>
        </a:p>
      </dgm:t>
    </dgm:pt>
    <dgm:pt modelId="{84B087E1-3F4E-4E86-9331-AD0E9519C648}" type="sibTrans" cxnId="{2A2678DC-EC41-48AF-9EAF-AB22BD500068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907E87BA-CE41-4F77-B9C5-867E4B408A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Strong leadership commitment is crucial to foster a culture focused on safety, transparency, and continuous learning.</a:t>
          </a:r>
        </a:p>
      </dgm:t>
    </dgm:pt>
    <dgm:pt modelId="{74930BCC-35F4-4683-BEC6-A989A6B3DE5D}" type="parTrans" cxnId="{87981C29-686F-422B-BE0E-5C66807D78F5}">
      <dgm:prSet/>
      <dgm:spPr/>
      <dgm:t>
        <a:bodyPr/>
        <a:lstStyle/>
        <a:p>
          <a:endParaRPr lang="en-US"/>
        </a:p>
      </dgm:t>
    </dgm:pt>
    <dgm:pt modelId="{71497935-7089-4590-89C6-811B656E3E67}" type="sibTrans" cxnId="{87981C29-686F-422B-BE0E-5C66807D78F5}">
      <dgm:prSet/>
      <dgm:spPr/>
      <dgm:t>
        <a:bodyPr/>
        <a:lstStyle/>
        <a:p>
          <a:endParaRPr lang="en-US"/>
        </a:p>
      </dgm:t>
    </dgm:pt>
    <dgm:pt modelId="{8946A159-61EC-40B9-88F0-5E1F573913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Targeted Strategies</a:t>
          </a:r>
        </a:p>
      </dgm:t>
    </dgm:pt>
    <dgm:pt modelId="{54398FA8-B1FE-4E5D-B6A4-17E4B44D3C42}" type="parTrans" cxnId="{4D30FF41-81E9-40C1-8C55-770AC928ADF4}">
      <dgm:prSet/>
      <dgm:spPr/>
      <dgm:t>
        <a:bodyPr/>
        <a:lstStyle/>
        <a:p>
          <a:endParaRPr lang="en-US"/>
        </a:p>
      </dgm:t>
    </dgm:pt>
    <dgm:pt modelId="{EF7FDD6D-A395-4662-92D8-5C7546E0FCD4}" type="sibTrans" cxnId="{4D30FF41-81E9-40C1-8C55-770AC928ADF4}">
      <dgm:prSet/>
      <dgm:spPr/>
      <dgm:t>
        <a:bodyPr/>
        <a:lstStyle/>
        <a:p>
          <a:endParaRPr lang="en-US"/>
        </a:p>
      </dgm:t>
    </dgm:pt>
    <dgm:pt modelId="{D8D5C2ED-11F1-4BC3-8390-0436C7D76C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Implementing specific strategies helps organizations create an environment that supports learning and accountability.</a:t>
          </a:r>
        </a:p>
      </dgm:t>
    </dgm:pt>
    <dgm:pt modelId="{E4A9144D-2F89-4891-ADB9-FE6B37FFBF73}" type="parTrans" cxnId="{FAD16C86-B27A-440A-8036-F1AC4C2FCEF8}">
      <dgm:prSet/>
      <dgm:spPr/>
      <dgm:t>
        <a:bodyPr/>
        <a:lstStyle/>
        <a:p>
          <a:endParaRPr lang="en-US"/>
        </a:p>
      </dgm:t>
    </dgm:pt>
    <dgm:pt modelId="{F33B508F-2F58-48DE-BE6A-A67637B3788D}" type="sibTrans" cxnId="{FAD16C86-B27A-440A-8036-F1AC4C2FCEF8}">
      <dgm:prSet/>
      <dgm:spPr/>
      <dgm:t>
        <a:bodyPr/>
        <a:lstStyle/>
        <a:p>
          <a:endParaRPr lang="en-US"/>
        </a:p>
      </dgm:t>
    </dgm:pt>
    <dgm:pt modelId="{6E86310D-F30F-4912-B4AB-DE5EDFDA36E9}" type="pres">
      <dgm:prSet presAssocID="{E2E048E4-C0A8-4D9C-8CF1-EBEEAC8A7E9B}" presName="Name0" presStyleCnt="0">
        <dgm:presLayoutVars>
          <dgm:dir/>
          <dgm:resizeHandles val="exact"/>
        </dgm:presLayoutVars>
      </dgm:prSet>
      <dgm:spPr/>
    </dgm:pt>
    <dgm:pt modelId="{FE2CB02A-98D4-4AE2-8A09-BC20A4954DEE}" type="pres">
      <dgm:prSet presAssocID="{9A83F91B-5DA0-47E2-ABCB-435974A1652A}" presName="compNode" presStyleCnt="0"/>
      <dgm:spPr/>
    </dgm:pt>
    <dgm:pt modelId="{BCE4D2A5-AD8B-40AA-BC43-471B3220AA1C}" type="pres">
      <dgm:prSet presAssocID="{9A83F91B-5DA0-47E2-ABCB-435974A1652A}" presName="pictRect" presStyleLbl="revTx" presStyleIdx="0" presStyleCnt="6">
        <dgm:presLayoutVars>
          <dgm:chMax val="0"/>
          <dgm:bulletEnabled/>
        </dgm:presLayoutVars>
      </dgm:prSet>
      <dgm:spPr/>
    </dgm:pt>
    <dgm:pt modelId="{CFBAEB1C-AB64-44E5-B816-ED8621E2AF81}" type="pres">
      <dgm:prSet presAssocID="{9A83F91B-5DA0-47E2-ABCB-435974A1652A}" presName="textRect" presStyleLbl="revTx" presStyleIdx="1" presStyleCnt="6">
        <dgm:presLayoutVars>
          <dgm:bulletEnabled/>
        </dgm:presLayoutVars>
      </dgm:prSet>
      <dgm:spPr/>
    </dgm:pt>
    <dgm:pt modelId="{705617F1-F206-4EC4-B381-91937D1B2EBC}" type="pres">
      <dgm:prSet presAssocID="{F1208FD8-7689-4AA4-90D3-A4895C298B74}" presName="sibTrans" presStyleLbl="sibTrans2D1" presStyleIdx="0" presStyleCnt="0"/>
      <dgm:spPr/>
    </dgm:pt>
    <dgm:pt modelId="{F5D9DAC9-A08E-4902-9A62-CAB6AEBA46BD}" type="pres">
      <dgm:prSet presAssocID="{A14A0C50-C500-4073-B9E5-DAE331EB8529}" presName="compNode" presStyleCnt="0"/>
      <dgm:spPr/>
    </dgm:pt>
    <dgm:pt modelId="{9B5E5609-82AC-4A70-B189-B898689E4390}" type="pres">
      <dgm:prSet presAssocID="{A14A0C50-C500-4073-B9E5-DAE331EB8529}" presName="pictRect" presStyleLbl="revTx" presStyleIdx="2" presStyleCnt="6">
        <dgm:presLayoutVars>
          <dgm:chMax val="0"/>
          <dgm:bulletEnabled/>
        </dgm:presLayoutVars>
      </dgm:prSet>
      <dgm:spPr/>
    </dgm:pt>
    <dgm:pt modelId="{B2824A67-63C9-4CE0-A4B0-3D59A4E34120}" type="pres">
      <dgm:prSet presAssocID="{A14A0C50-C500-4073-B9E5-DAE331EB8529}" presName="textRect" presStyleLbl="revTx" presStyleIdx="3" presStyleCnt="6">
        <dgm:presLayoutVars>
          <dgm:bulletEnabled/>
        </dgm:presLayoutVars>
      </dgm:prSet>
      <dgm:spPr/>
    </dgm:pt>
    <dgm:pt modelId="{7FA9B37C-43FE-4BF3-A705-9DE144711A14}" type="pres">
      <dgm:prSet presAssocID="{84B087E1-3F4E-4E86-9331-AD0E9519C648}" presName="sibTrans" presStyleLbl="sibTrans2D1" presStyleIdx="0" presStyleCnt="0"/>
      <dgm:spPr/>
    </dgm:pt>
    <dgm:pt modelId="{6E808930-8903-47E1-A381-C5D5B7C9E066}" type="pres">
      <dgm:prSet presAssocID="{8946A159-61EC-40B9-88F0-5E1F5739139C}" presName="compNode" presStyleCnt="0"/>
      <dgm:spPr/>
    </dgm:pt>
    <dgm:pt modelId="{8D595C0E-4238-49EB-8D4E-61BC95DA4E1C}" type="pres">
      <dgm:prSet presAssocID="{8946A159-61EC-40B9-88F0-5E1F5739139C}" presName="pictRect" presStyleLbl="revTx" presStyleIdx="4" presStyleCnt="6">
        <dgm:presLayoutVars>
          <dgm:chMax val="0"/>
          <dgm:bulletEnabled/>
        </dgm:presLayoutVars>
      </dgm:prSet>
      <dgm:spPr/>
    </dgm:pt>
    <dgm:pt modelId="{726D8D01-A050-47B7-8228-97774A6ADE57}" type="pres">
      <dgm:prSet presAssocID="{8946A159-61EC-40B9-88F0-5E1F5739139C}" presName="textRect" presStyleLbl="revTx" presStyleIdx="5" presStyleCnt="6">
        <dgm:presLayoutVars>
          <dgm:bulletEnabled/>
        </dgm:presLayoutVars>
      </dgm:prSet>
      <dgm:spPr/>
    </dgm:pt>
  </dgm:ptLst>
  <dgm:cxnLst>
    <dgm:cxn modelId="{90926A05-9EB6-435C-ABA3-303651CB0439}" type="presOf" srcId="{8946A159-61EC-40B9-88F0-5E1F5739139C}" destId="{8D595C0E-4238-49EB-8D4E-61BC95DA4E1C}" srcOrd="0" destOrd="0" presId="urn:microsoft.com/office/officeart/2024/3/layout/hArchList1"/>
    <dgm:cxn modelId="{87981C29-686F-422B-BE0E-5C66807D78F5}" srcId="{A14A0C50-C500-4073-B9E5-DAE331EB8529}" destId="{907E87BA-CE41-4F77-B9C5-867E4B408A64}" srcOrd="0" destOrd="0" parTransId="{74930BCC-35F4-4683-BEC6-A989A6B3DE5D}" sibTransId="{71497935-7089-4590-89C6-811B656E3E67}"/>
    <dgm:cxn modelId="{18C22F2A-88BC-4055-9D10-1852B0450588}" type="presOf" srcId="{E2E048E4-C0A8-4D9C-8CF1-EBEEAC8A7E9B}" destId="{6E86310D-F30F-4912-B4AB-DE5EDFDA36E9}" srcOrd="0" destOrd="0" presId="urn:microsoft.com/office/officeart/2024/3/layout/hArchList1"/>
    <dgm:cxn modelId="{64DD903F-FB8F-44A1-B026-D28B65FEFCCD}" type="presOf" srcId="{A14A0C50-C500-4073-B9E5-DAE331EB8529}" destId="{9B5E5609-82AC-4A70-B189-B898689E4390}" srcOrd="0" destOrd="0" presId="urn:microsoft.com/office/officeart/2024/3/layout/hArchList1"/>
    <dgm:cxn modelId="{67E83A5F-A55C-4B79-8DD3-A3D207131655}" srcId="{E2E048E4-C0A8-4D9C-8CF1-EBEEAC8A7E9B}" destId="{9A83F91B-5DA0-47E2-ABCB-435974A1652A}" srcOrd="0" destOrd="0" parTransId="{465F31E6-F578-436A-BFA4-AE5159634CD3}" sibTransId="{F1208FD8-7689-4AA4-90D3-A4895C298B74}"/>
    <dgm:cxn modelId="{4D30FF41-81E9-40C1-8C55-770AC928ADF4}" srcId="{E2E048E4-C0A8-4D9C-8CF1-EBEEAC8A7E9B}" destId="{8946A159-61EC-40B9-88F0-5E1F5739139C}" srcOrd="2" destOrd="0" parTransId="{54398FA8-B1FE-4E5D-B6A4-17E4B44D3C42}" sibTransId="{EF7FDD6D-A395-4662-92D8-5C7546E0FCD4}"/>
    <dgm:cxn modelId="{B850BA58-DB2F-4FFC-A51F-B9FDE51151F9}" type="presOf" srcId="{907E87BA-CE41-4F77-B9C5-867E4B408A64}" destId="{B2824A67-63C9-4CE0-A4B0-3D59A4E34120}" srcOrd="0" destOrd="0" presId="urn:microsoft.com/office/officeart/2024/3/layout/hArchList1"/>
    <dgm:cxn modelId="{11ED3C7B-DFBD-4BB3-BBCC-ADA2EADE6F22}" type="presOf" srcId="{9A83F91B-5DA0-47E2-ABCB-435974A1652A}" destId="{BCE4D2A5-AD8B-40AA-BC43-471B3220AA1C}" srcOrd="0" destOrd="0" presId="urn:microsoft.com/office/officeart/2024/3/layout/hArchList1"/>
    <dgm:cxn modelId="{FAD16C86-B27A-440A-8036-F1AC4C2FCEF8}" srcId="{8946A159-61EC-40B9-88F0-5E1F5739139C}" destId="{D8D5C2ED-11F1-4BC3-8390-0436C7D76C18}" srcOrd="0" destOrd="0" parTransId="{E4A9144D-2F89-4891-ADB9-FE6B37FFBF73}" sibTransId="{F33B508F-2F58-48DE-BE6A-A67637B3788D}"/>
    <dgm:cxn modelId="{4BF357A5-DACD-451F-81AB-3E640D09B094}" type="presOf" srcId="{2D9BDFDA-C706-41F7-9A9B-6D5802C45530}" destId="{CFBAEB1C-AB64-44E5-B816-ED8621E2AF81}" srcOrd="0" destOrd="0" presId="urn:microsoft.com/office/officeart/2024/3/layout/hArchList1"/>
    <dgm:cxn modelId="{8B0CA0B2-3D80-4303-A6E3-62F6A1CD2C64}" srcId="{9A83F91B-5DA0-47E2-ABCB-435974A1652A}" destId="{2D9BDFDA-C706-41F7-9A9B-6D5802C45530}" srcOrd="0" destOrd="0" parTransId="{EB0B0241-F138-4E0D-BE3F-72416C15EF1D}" sibTransId="{369925D4-82DA-40E8-B5E7-F52EE47AE67D}"/>
    <dgm:cxn modelId="{FB478CBA-CC40-4122-8394-0C37E669927C}" type="presOf" srcId="{D8D5C2ED-11F1-4BC3-8390-0436C7D76C18}" destId="{726D8D01-A050-47B7-8228-97774A6ADE57}" srcOrd="0" destOrd="0" presId="urn:microsoft.com/office/officeart/2024/3/layout/hArchList1"/>
    <dgm:cxn modelId="{2A2678DC-EC41-48AF-9EAF-AB22BD500068}" srcId="{E2E048E4-C0A8-4D9C-8CF1-EBEEAC8A7E9B}" destId="{A14A0C50-C500-4073-B9E5-DAE331EB8529}" srcOrd="1" destOrd="0" parTransId="{082186C9-304A-464D-B8EE-4518D6781D9D}" sibTransId="{84B087E1-3F4E-4E86-9331-AD0E9519C648}"/>
    <dgm:cxn modelId="{39956CDD-AD60-4082-A784-464E2AE32B0E}" type="presOf" srcId="{84B087E1-3F4E-4E86-9331-AD0E9519C648}" destId="{7FA9B37C-43FE-4BF3-A705-9DE144711A14}" srcOrd="0" destOrd="0" presId="urn:microsoft.com/office/officeart/2024/3/layout/hArchList1"/>
    <dgm:cxn modelId="{77BA4BE6-C39C-4759-BB56-16A54D1D26D1}" type="presOf" srcId="{F1208FD8-7689-4AA4-90D3-A4895C298B74}" destId="{705617F1-F206-4EC4-B381-91937D1B2EBC}" srcOrd="0" destOrd="0" presId="urn:microsoft.com/office/officeart/2024/3/layout/hArchList1"/>
    <dgm:cxn modelId="{21331DAB-8AF4-4BA8-9D42-2A80357AEA26}" type="presParOf" srcId="{6E86310D-F30F-4912-B4AB-DE5EDFDA36E9}" destId="{FE2CB02A-98D4-4AE2-8A09-BC20A4954DEE}" srcOrd="0" destOrd="0" presId="urn:microsoft.com/office/officeart/2024/3/layout/hArchList1"/>
    <dgm:cxn modelId="{8EF3F92E-99C6-4508-B3DF-8FFBCE00F4FA}" type="presParOf" srcId="{FE2CB02A-98D4-4AE2-8A09-BC20A4954DEE}" destId="{BCE4D2A5-AD8B-40AA-BC43-471B3220AA1C}" srcOrd="0" destOrd="0" presId="urn:microsoft.com/office/officeart/2024/3/layout/hArchList1"/>
    <dgm:cxn modelId="{868FA5B3-D2C6-420C-B58E-DB2F79BF05AF}" type="presParOf" srcId="{FE2CB02A-98D4-4AE2-8A09-BC20A4954DEE}" destId="{CFBAEB1C-AB64-44E5-B816-ED8621E2AF81}" srcOrd="1" destOrd="0" presId="urn:microsoft.com/office/officeart/2024/3/layout/hArchList1"/>
    <dgm:cxn modelId="{35F8BED5-F7AE-4126-96C6-115433087738}" type="presParOf" srcId="{6E86310D-F30F-4912-B4AB-DE5EDFDA36E9}" destId="{705617F1-F206-4EC4-B381-91937D1B2EBC}" srcOrd="1" destOrd="0" presId="urn:microsoft.com/office/officeart/2024/3/layout/hArchList1"/>
    <dgm:cxn modelId="{90B7AA6D-2A04-4358-B50B-1BDFDF7C6A15}" type="presParOf" srcId="{6E86310D-F30F-4912-B4AB-DE5EDFDA36E9}" destId="{F5D9DAC9-A08E-4902-9A62-CAB6AEBA46BD}" srcOrd="2" destOrd="0" presId="urn:microsoft.com/office/officeart/2024/3/layout/hArchList1"/>
    <dgm:cxn modelId="{17ED131C-D5DF-4AF2-B42D-69EAD65AC36B}" type="presParOf" srcId="{F5D9DAC9-A08E-4902-9A62-CAB6AEBA46BD}" destId="{9B5E5609-82AC-4A70-B189-B898689E4390}" srcOrd="0" destOrd="0" presId="urn:microsoft.com/office/officeart/2024/3/layout/hArchList1"/>
    <dgm:cxn modelId="{A9B5D1A0-EBF0-41A7-868B-F347F9F8CF63}" type="presParOf" srcId="{F5D9DAC9-A08E-4902-9A62-CAB6AEBA46BD}" destId="{B2824A67-63C9-4CE0-A4B0-3D59A4E34120}" srcOrd="1" destOrd="0" presId="urn:microsoft.com/office/officeart/2024/3/layout/hArchList1"/>
    <dgm:cxn modelId="{0DB2AE98-C3AE-4264-A2B9-324D7661AE6A}" type="presParOf" srcId="{6E86310D-F30F-4912-B4AB-DE5EDFDA36E9}" destId="{7FA9B37C-43FE-4BF3-A705-9DE144711A14}" srcOrd="3" destOrd="0" presId="urn:microsoft.com/office/officeart/2024/3/layout/hArchList1"/>
    <dgm:cxn modelId="{78E15853-FC77-4ADC-AEE6-1129A70A49EA}" type="presParOf" srcId="{6E86310D-F30F-4912-B4AB-DE5EDFDA36E9}" destId="{6E808930-8903-47E1-A381-C5D5B7C9E066}" srcOrd="4" destOrd="0" presId="urn:microsoft.com/office/officeart/2024/3/layout/hArchList1"/>
    <dgm:cxn modelId="{FAF2F180-5B34-4765-8E09-E2036F60CB3F}" type="presParOf" srcId="{6E808930-8903-47E1-A381-C5D5B7C9E066}" destId="{8D595C0E-4238-49EB-8D4E-61BC95DA4E1C}" srcOrd="0" destOrd="0" presId="urn:microsoft.com/office/officeart/2024/3/layout/hArchList1"/>
    <dgm:cxn modelId="{85E26BD2-BB4F-4230-A767-1366D0AD3019}" type="presParOf" srcId="{6E808930-8903-47E1-A381-C5D5B7C9E066}" destId="{726D8D01-A050-47B7-8228-97774A6ADE57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CA5016-5D85-4D6D-8D9F-CC4F22CFC168}">
      <dsp:nvSpPr>
        <dsp:cNvPr id="0" name=""/>
        <dsp:cNvSpPr/>
      </dsp:nvSpPr>
      <dsp:spPr>
        <a:xfrm>
          <a:off x="0" y="0"/>
          <a:ext cx="1552009" cy="15520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-1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098137E-8EEE-4F0C-A074-72E91A2DDE64}">
      <dsp:nvSpPr>
        <dsp:cNvPr id="0" name=""/>
        <dsp:cNvSpPr/>
      </dsp:nvSpPr>
      <dsp:spPr>
        <a:xfrm>
          <a:off x="1732009" y="0"/>
          <a:ext cx="9393022" cy="380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Just Culture Framework</a:t>
          </a:r>
        </a:p>
      </dsp:txBody>
      <dsp:txXfrm>
        <a:off x="1732009" y="0"/>
        <a:ext cx="9393022" cy="380326"/>
      </dsp:txXfrm>
    </dsp:sp>
    <dsp:sp modelId="{ABFC344B-DC4C-4B97-A870-91EA82F5CCD8}">
      <dsp:nvSpPr>
        <dsp:cNvPr id="0" name=""/>
        <dsp:cNvSpPr/>
      </dsp:nvSpPr>
      <dsp:spPr>
        <a:xfrm>
          <a:off x="1732009" y="380326"/>
          <a:ext cx="9393022" cy="1171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Just Culture balances accountability with a non-punitive approach to handling errors and mistakes in organizations.</a:t>
          </a:r>
        </a:p>
      </dsp:txBody>
      <dsp:txXfrm>
        <a:off x="1732009" y="380326"/>
        <a:ext cx="9393022" cy="1171682"/>
      </dsp:txXfrm>
    </dsp:sp>
    <dsp:sp modelId="{F6BF0ABE-AFAB-4DC5-A807-8223F4ED09A1}">
      <dsp:nvSpPr>
        <dsp:cNvPr id="0" name=""/>
        <dsp:cNvSpPr/>
      </dsp:nvSpPr>
      <dsp:spPr>
        <a:xfrm>
          <a:off x="0" y="1676170"/>
          <a:ext cx="1552009" cy="1552009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25" r="9128" b="4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11F1CA0-A13D-42B3-A77F-95BE1F73C8E5}">
      <dsp:nvSpPr>
        <dsp:cNvPr id="0" name=""/>
        <dsp:cNvSpPr/>
      </dsp:nvSpPr>
      <dsp:spPr>
        <a:xfrm>
          <a:off x="1732009" y="1676170"/>
          <a:ext cx="9393022" cy="380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Safe Reporting Environment</a:t>
          </a:r>
        </a:p>
      </dsp:txBody>
      <dsp:txXfrm>
        <a:off x="1732009" y="1676170"/>
        <a:ext cx="9393022" cy="380326"/>
      </dsp:txXfrm>
    </dsp:sp>
    <dsp:sp modelId="{29D6F775-4D4A-4895-BCC6-4304AC7ED016}">
      <dsp:nvSpPr>
        <dsp:cNvPr id="0" name=""/>
        <dsp:cNvSpPr/>
      </dsp:nvSpPr>
      <dsp:spPr>
        <a:xfrm>
          <a:off x="1732009" y="2056496"/>
          <a:ext cx="9393022" cy="1171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It creates a safe environment for employees to report mistakes without fear of punishment or blame.</a:t>
          </a:r>
        </a:p>
      </dsp:txBody>
      <dsp:txXfrm>
        <a:off x="1732009" y="2056496"/>
        <a:ext cx="9393022" cy="1171682"/>
      </dsp:txXfrm>
    </dsp:sp>
    <dsp:sp modelId="{6145D488-9F2D-4753-972A-C32193475BF4}">
      <dsp:nvSpPr>
        <dsp:cNvPr id="0" name=""/>
        <dsp:cNvSpPr/>
      </dsp:nvSpPr>
      <dsp:spPr>
        <a:xfrm>
          <a:off x="0" y="3352340"/>
          <a:ext cx="1552009" cy="15520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50" r="8302" b="4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8571837-E51C-464D-9D5E-D203D136F86D}">
      <dsp:nvSpPr>
        <dsp:cNvPr id="0" name=""/>
        <dsp:cNvSpPr/>
      </dsp:nvSpPr>
      <dsp:spPr>
        <a:xfrm>
          <a:off x="1732009" y="3352340"/>
          <a:ext cx="9393022" cy="380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Improved Learning and Safety</a:t>
          </a:r>
        </a:p>
      </dsp:txBody>
      <dsp:txXfrm>
        <a:off x="1732009" y="3352340"/>
        <a:ext cx="9393022" cy="380326"/>
      </dsp:txXfrm>
    </dsp:sp>
    <dsp:sp modelId="{22F96F5C-DCA1-45DF-859B-2107FA97EBF0}">
      <dsp:nvSpPr>
        <dsp:cNvPr id="0" name=""/>
        <dsp:cNvSpPr/>
      </dsp:nvSpPr>
      <dsp:spPr>
        <a:xfrm>
          <a:off x="1732009" y="3732666"/>
          <a:ext cx="9393022" cy="1171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Encouraging open reporting leads to better organizational learning and safer operational practices.</a:t>
          </a:r>
        </a:p>
      </dsp:txBody>
      <dsp:txXfrm>
        <a:off x="1732009" y="3732666"/>
        <a:ext cx="9393022" cy="11716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E4D2A5-AD8B-40AA-BC43-471B3220AA1C}">
      <dsp:nvSpPr>
        <dsp:cNvPr id="0" name=""/>
        <dsp:cNvSpPr/>
      </dsp:nvSpPr>
      <dsp:spPr>
        <a:xfrm>
          <a:off x="0" y="0"/>
          <a:ext cx="2634614" cy="6340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Understanding Barriers</a:t>
          </a:r>
        </a:p>
      </dsp:txBody>
      <dsp:txXfrm>
        <a:off x="0" y="0"/>
        <a:ext cx="2634614" cy="634079"/>
      </dsp:txXfrm>
    </dsp:sp>
    <dsp:sp modelId="{CFBAEB1C-AB64-44E5-B816-ED8621E2AF81}">
      <dsp:nvSpPr>
        <dsp:cNvPr id="0" name=""/>
        <dsp:cNvSpPr/>
      </dsp:nvSpPr>
      <dsp:spPr>
        <a:xfrm>
          <a:off x="0" y="634079"/>
          <a:ext cx="2634614" cy="1194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Recognizing and addressing barriers is essential to successfully implement a Just, Learning Culture in organizations.</a:t>
          </a:r>
        </a:p>
      </dsp:txBody>
      <dsp:txXfrm>
        <a:off x="0" y="634079"/>
        <a:ext cx="2634614" cy="1194720"/>
      </dsp:txXfrm>
    </dsp:sp>
    <dsp:sp modelId="{9B5E5609-82AC-4A70-B189-B898689E4390}">
      <dsp:nvSpPr>
        <dsp:cNvPr id="0" name=""/>
        <dsp:cNvSpPr/>
      </dsp:nvSpPr>
      <dsp:spPr>
        <a:xfrm>
          <a:off x="2898076" y="0"/>
          <a:ext cx="2634614" cy="6340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Committed Leadership</a:t>
          </a:r>
        </a:p>
      </dsp:txBody>
      <dsp:txXfrm>
        <a:off x="2898076" y="0"/>
        <a:ext cx="2634614" cy="634079"/>
      </dsp:txXfrm>
    </dsp:sp>
    <dsp:sp modelId="{B2824A67-63C9-4CE0-A4B0-3D59A4E34120}">
      <dsp:nvSpPr>
        <dsp:cNvPr id="0" name=""/>
        <dsp:cNvSpPr/>
      </dsp:nvSpPr>
      <dsp:spPr>
        <a:xfrm>
          <a:off x="2898076" y="634079"/>
          <a:ext cx="2634614" cy="1194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Strong leadership commitment is crucial to foster a culture focused on safety, transparency, and continuous learning.</a:t>
          </a:r>
        </a:p>
      </dsp:txBody>
      <dsp:txXfrm>
        <a:off x="2898076" y="634079"/>
        <a:ext cx="2634614" cy="1194720"/>
      </dsp:txXfrm>
    </dsp:sp>
    <dsp:sp modelId="{8D595C0E-4238-49EB-8D4E-61BC95DA4E1C}">
      <dsp:nvSpPr>
        <dsp:cNvPr id="0" name=""/>
        <dsp:cNvSpPr/>
      </dsp:nvSpPr>
      <dsp:spPr>
        <a:xfrm>
          <a:off x="5796152" y="0"/>
          <a:ext cx="2634614" cy="6340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Targeted Strategies</a:t>
          </a:r>
        </a:p>
      </dsp:txBody>
      <dsp:txXfrm>
        <a:off x="5796152" y="0"/>
        <a:ext cx="2634614" cy="634079"/>
      </dsp:txXfrm>
    </dsp:sp>
    <dsp:sp modelId="{726D8D01-A050-47B7-8228-97774A6ADE57}">
      <dsp:nvSpPr>
        <dsp:cNvPr id="0" name=""/>
        <dsp:cNvSpPr/>
      </dsp:nvSpPr>
      <dsp:spPr>
        <a:xfrm>
          <a:off x="5796152" y="634079"/>
          <a:ext cx="2634614" cy="1194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Implementing specific strategies helps organizations create an environment that supports learning and accountability.</a:t>
          </a:r>
        </a:p>
      </dsp:txBody>
      <dsp:txXfrm>
        <a:off x="5796152" y="634079"/>
        <a:ext cx="2634614" cy="1194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verticalVisualTextBlock1">
  <dgm:title val="Vertical Visual Text Blocks"/>
  <dgm:desc val="Pictures with short bits of text with formatted headers. Use as an easier-to-read alternative to a bulleted list."/>
  <dgm:catLst>
    <dgm:cat type="picture" pri="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Root">
    <dgm:varLst>
      <dgm:dir/>
      <dgm:resizeHandles val="exact"/>
    </dgm:varLst>
    <dgm:choose name="BasedOnLanguageDirection">
      <dgm:if name="LeftToRight" func="var" arg="dir" op="equ" val="norm">
        <dgm:alg type="lin">
          <dgm:param type="linDir" val="fromT"/>
          <dgm:param type="vertAlign" val="t"/>
          <dgm:param type="horzAlign" val="l"/>
        </dgm:alg>
      </dgm:if>
      <dgm:else name="RightToLeft">
        <dgm:alg type="lin">
          <dgm:param type="linDir" val="fromT"/>
          <dgm:param type="vertAlign" val="t"/>
          <dgm:param type="horzAlign" val="r"/>
        </dgm:alg>
      </dgm:else>
    </dgm:choose>
    <dgm:presOf/>
    <dgm:constrLst>
      <dgm:constr type="primFontSz" for="des" forName="Subtitle" op="equ" val="18"/>
      <dgm:constr type="primFontSz" for="des" forName="Description" refType="primFontSz" refFor="des" refForName="Subtitle" op="equ" fact="0.77"/>
      <dgm:constr type="w" for="ch" forName="Composite" refType="w"/>
      <dgm:constr type="h" for="ch" forName="Composite" refType="h"/>
      <dgm:constr type="h" for="ch" forName="sibTrans" refType="h" refFor="ch" refForName="Composite" fact="0.08"/>
      <dgm:constr type="sp" refType="w" refFor="ch" refForName="Composite" op="equ" fact="0.1"/>
    </dgm:constrLst>
    <dgm:ruleLst/>
    <dgm:forEach name="DirectChildrenOfRoot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Picture" refType="w" fact="0.335"/>
          <dgm:constr type="h" for="ch" forName="Picture" refType="w" refFor="ch" refForName="Picture" op="equ"/>
          <dgm:constr type="h" for="ch" forName="Picture" refType="h" op="lte"/>
          <dgm:constr type="l" for="ch" forName="Subtitle" refType="r" refFor="ch" refForName="Picture"/>
          <dgm:constr type="lOff" for="ch" forName="Subtitle" val="5"/>
          <dgm:constr type="h" for="ch" forName="Subtitle" refType="h" fact="0.1"/>
          <dgm:constr type="t" for="ch" forName="Description" refType="b" refFor="ch" refForName="Subtitle"/>
          <dgm:constr type="l" for="ch" forName="Description" refType="r" refFor="ch" refForName="Picture"/>
          <dgm:constr type="lOff" for="ch" forName="Description" val="5"/>
        </dgm:constrLst>
        <dgm:ruleLst/>
        <dgm:layoutNode name="Picture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ubtitle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SubtitleConstraintsBasedOnLanguageDirection">
            <dgm:if name="SubtitleIsLeftToRight" func="var" arg="dir" op="equ" val="norm">
              <dgm:constrLst>
                <dgm:constr type="h" refType="w" op="lte" fact="0.4"/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SubtitleIsRightToLeft">
              <dgm:constrLst>
                <dgm:constr type="h" refType="w" op="lte" fact="0.4"/>
                <dgm:constr type="rMarg"/>
                <dgm:constr type="lMarg" refType="primFontSz" fact="0.1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Description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DescriptionConstraintsBasedOnLanguageDirection">
            <dgm:if name="DescriptionIsLeftToRight" func="var" arg="dir" op="equ" val="norm">
              <dgm:constrLst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DescriptionIsRightToLeft">
              <dgm:constrLst>
                <dgm:constr type="lMarg" refType="primFontSz" fact="0.1"/>
                <dgm:constr type="rMarg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8DD0D-150A-437E-A8D2-E2DDF2A326A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426B9-1779-461A-AB77-855B404CA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389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540A62-E09A-443B-85CF-BECA9C5F1B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023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540A62-E09A-443B-85CF-BECA9C5F1B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52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540A62-E09A-443B-85CF-BECA9C5F1B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978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540A62-E09A-443B-85CF-BECA9C5F1B3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40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540A62-E09A-443B-85CF-BECA9C5F1B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09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540A62-E09A-443B-85CF-BECA9C5F1B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9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540A62-E09A-443B-85CF-BECA9C5F1B3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6596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540A62-E09A-443B-85CF-BECA9C5F1B3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53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540A62-E09A-443B-85CF-BECA9C5F1B3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2632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66AE9-3790-1698-E726-7AA41FD65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EC536E-A736-07CE-C9F6-9D80CF5C7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B2B98-6B7C-ED7C-2E8F-27DF28C75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1D3FC-E444-D15D-4265-9847E5932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540A62-E09A-443B-85CF-BECA9C5F1B3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07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6540E65-3D12-4D7C-A48B-620337B0206E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139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89A9CD96-5582-448E-9389-7825FDF1E400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956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31FCC6A4-61B3-429B-A1D4-BF753C17D9AB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30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04634-FF41-4BB8-951D-1C6A58471009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28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510B7E2-7657-4E68-83FE-5AA001D30609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067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3E9AE3B4-C0F3-4C78-B8FA-7D99CE97C062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284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318175D4-56CF-4F88-AD3D-55210EA2F0C6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735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C0EDDF7-6CDF-44DE-A2AA-3BF59EF82E4C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1850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EE1A4-B400-49D6-BFA5-9A568225C0BE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35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5280756-E2CC-4AEF-BAA0-DAB40D808034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7762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4572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6858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9144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11430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2054E-AC96-43F6-9121-A4439D987318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960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9EB9-7795-4050-87A8-B483C1526496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1733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D34EE-CA8A-4C02-9B1F-D021D1DAB75F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766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A6931-D8B4-4997-925B-CDF53137689D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792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0C26E-0BC8-4301-B574-C3C139BAA1AD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286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9A5E1-BE85-40E1-9A33-374254573333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308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98ECD-E412-47CB-A7DA-473896A6D3CD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2669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152B447-7A30-4CC6-B3D0-317FEBB6A57F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7523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66E196-6626-4265-990D-7B147F0BF8E1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4033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E090C9C-A8D7-410C-BEAB-E274D92A5ACE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6747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60542-CC87-47EE-B3C6-BC44F9EA7972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1053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EAA6F32A-1029-41FF-9889-0AC62C96EAA2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4803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9415535-62AF-4EFD-8A92-F0E77B9F94D8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9401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30B3-1C3A-4DC9-B22C-9804CA44CD34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9278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477F74F-6045-40EC-9308-59BC655395F3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3398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E21FE-BCA9-400E-ADB7-C91B9BDD23ED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945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2682A30-A854-4CD9-9106-305095434AE7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930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A2FD7-1E47-4495-A0F2-AAC9707FCB02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7078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DA60C888-4B6B-476F-966C-AAC17A512894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0333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F341DF0-71F7-4CC4-9F50-07D1BED3A792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2095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11C3A-5C52-47EC-8BF8-B7FEC499C030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5641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6A85238-6BB9-42D8-953F-D292C4E6851F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134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FA6FF147-4EE4-4307-A016-CB6BE78507B3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7518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6A6CE-BF24-4F89-8237-894ADA4A5DD2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22356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99C92C-0B48-41F7-B5CB-69B676482286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5462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AB2D5ED-3075-4E15-BA53-9698F2BEF23C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15091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00A30-1A26-42C4-A855-F03AE73877B0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67994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963E-4720-403E-A83D-6E88771A35A2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740734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EF999-B111-4FB5-AF5E-AB6E76524214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95385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01CD3-1B75-4192-99B4-EB784EB51D18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1860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15AC-0564-45E4-BAED-E8D8A07AF9D9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9819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CEC12-D3FD-4809-A6CC-D34BD7C5C0B8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42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D543B-1578-4807-926D-82349D95D05A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988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22AE0-7DA3-4D05-8731-4AE242D415CE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7984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8EA62-DF30-4592-9A53-BB3AAAC8696F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6026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A827-21CB-412C-AE41-2E0388380111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273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774C647E-14A9-489D-B2F8-A9D7A64EE820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352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13BD4-546F-8CB3-951A-74FDFAE20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rmAutofit/>
          </a:bodyPr>
          <a:lstStyle/>
          <a:p>
            <a:r>
              <a:rPr lang="en-US" sz="4500"/>
              <a:t>Overcoming Barriers to Implementing a Just, Learning Culture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6B5337-5ADD-D6CC-AD72-9B02F149B9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/>
          <a:p>
            <a:r>
              <a:rPr lang="en-US"/>
              <a:t>Addressing challenges to promote fairness and growth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DBC13-0D43-DCC4-0A72-F241503C8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849867-857C-2016-6640-9A8C14F49F72}"/>
              </a:ext>
            </a:extLst>
          </p:cNvPr>
          <p:cNvSpPr txBox="1"/>
          <p:nvPr/>
        </p:nvSpPr>
        <p:spPr>
          <a:xfrm>
            <a:off x="9294778" y="6305858"/>
            <a:ext cx="415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Amanda Wedergren</a:t>
            </a:r>
          </a:p>
        </p:txBody>
      </p:sp>
    </p:spTree>
    <p:extLst>
      <p:ext uri="{BB962C8B-B14F-4D97-AF65-F5344CB8AC3E}">
        <p14:creationId xmlns:p14="http://schemas.microsoft.com/office/powerpoint/2010/main" val="2367581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A2A41-5111-4BF9-6AFE-839117DDC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 b="0" kern="1200" cap="all" baseline="0">
                <a:latin typeface="+mj-lt"/>
                <a:ea typeface="+mj-ea"/>
                <a:cs typeface="+mj-cs"/>
              </a:rPr>
              <a:t>Introduction to Just, Learning Culture</a:t>
            </a:r>
          </a:p>
        </p:txBody>
      </p:sp>
      <p:pic>
        <p:nvPicPr>
          <p:cNvPr id="7" name="Content Placeholder 6" descr="Shot of a businesswoman giving a presentation in the boardroom">
            <a:extLst>
              <a:ext uri="{FF2B5EF4-FFF2-40B4-BE49-F238E27FC236}">
                <a16:creationId xmlns:a16="http://schemas.microsoft.com/office/drawing/2014/main" id="{DD1D2C69-E7D4-4387-AA6E-3CA7A9667FF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5850" r="13473" b="1"/>
          <a:stretch>
            <a:fillRect/>
          </a:stretch>
        </p:blipFill>
        <p:spPr>
          <a:xfrm>
            <a:off x="20" y="10"/>
            <a:ext cx="7734280" cy="6399142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F9F391-8605-4FA0-B086-8BCC1F6D964A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311896" y="3099816"/>
            <a:ext cx="3273552" cy="295351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 b="1"/>
              <a:t>Accountability Over Blame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/>
              <a:t>Emphasizes accountability and learning instead of focusing on assigning blame for mistakes.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 b="1"/>
              <a:t>Open Communication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/>
              <a:t>Encourages transparent and honest communication among team members to foster trust.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 b="1"/>
              <a:t>Continuous Improvement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/>
              <a:t>Focuses on ongoing learning and improvement to boost safety and performance.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5637F-3418-5208-060D-10810D75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9623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A1165-396C-1A27-2077-731BBC080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 anchor="b">
            <a:normAutofit/>
          </a:bodyPr>
          <a:lstStyle/>
          <a:p>
            <a:r>
              <a:rPr lang="en-US"/>
              <a:t>Defining 'Just Culture' And Its Importance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89D10-B9AF-237C-BB08-478946C77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7" name="Content Placeholder 7">
            <a:extLst>
              <a:ext uri="{FF2B5EF4-FFF2-40B4-BE49-F238E27FC236}">
                <a16:creationId xmlns:a16="http://schemas.microsoft.com/office/drawing/2014/main" id="{7AEE03AB-85EB-4C3F-B527-2B1D1E103E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4360420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VisualTitledTextBox"/>
                  </p202:designTagLst>
                </p202:designPr>
              </p:ext>
            </p:extLst>
          </p:nvPr>
        </p:nvGraphicFramePr>
        <p:xfrm>
          <a:off x="431172" y="1384847"/>
          <a:ext cx="11125032" cy="49051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330500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F8E40-F6B7-8A89-719F-3511A3B9A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 b="0" kern="1200" cap="all" baseline="0">
                <a:latin typeface="+mj-lt"/>
                <a:ea typeface="+mj-ea"/>
                <a:cs typeface="+mj-cs"/>
              </a:rPr>
              <a:t>Common Barriers to 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4AC435-645D-44F1-BABA-A60ABD8CD6F2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29768" y="1380744"/>
            <a:ext cx="6858000" cy="498348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Entrenched Organizational Norms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Deeply rooted customs and norms within organizations hinder change and the adoption of new practices.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Fear of Punishment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Employees may avoid taking risks due to fear of negative consequences, limiting innovation and openness.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Lack of Trust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Insufficient trust between team members obstructs collaboration and open communication.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Communication Silos and Hierarchies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Rigid hierarchies and isolated communication block transparent dialogue and organizational learning.</a:t>
            </a:r>
          </a:p>
        </p:txBody>
      </p:sp>
      <p:pic>
        <p:nvPicPr>
          <p:cNvPr id="7" name="Content Placeholder 6" descr="Shot of a businessman holding on to a bunch of cryptocurrency balloons on top of a graph against a white background">
            <a:extLst>
              <a:ext uri="{FF2B5EF4-FFF2-40B4-BE49-F238E27FC236}">
                <a16:creationId xmlns:a16="http://schemas.microsoft.com/office/drawing/2014/main" id="{587203CF-E2D3-43F2-B4A8-2DF603DB18C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41085" r="3367" b="-2"/>
          <a:stretch>
            <a:fillRect/>
          </a:stretch>
        </p:blipFill>
        <p:spPr>
          <a:xfrm>
            <a:off x="8046768" y="10"/>
            <a:ext cx="4145232" cy="6399142"/>
          </a:xfrm>
          <a:prstGeom prst="rect">
            <a:avLst/>
          </a:prstGeom>
          <a:noFill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644DA-1C79-C99D-B646-49DDE469E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7710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7E3ED-BDC5-71F9-BE28-026B1B04D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500" b="0" kern="1200" cap="all" baseline="0">
                <a:latin typeface="+mj-lt"/>
                <a:ea typeface="+mj-ea"/>
                <a:cs typeface="+mj-cs"/>
              </a:rPr>
              <a:t>Organizational Resistance to Change</a:t>
            </a:r>
          </a:p>
        </p:txBody>
      </p:sp>
      <p:pic>
        <p:nvPicPr>
          <p:cNvPr id="7" name="Content Placeholder 6" descr="Blue and orange chess pieces over white background.">
            <a:extLst>
              <a:ext uri="{FF2B5EF4-FFF2-40B4-BE49-F238E27FC236}">
                <a16:creationId xmlns:a16="http://schemas.microsoft.com/office/drawing/2014/main" id="{B4BD73F0-4B99-43E5-9AFE-05B4677911E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1238" r="18086" b="1"/>
          <a:stretch>
            <a:fillRect/>
          </a:stretch>
        </p:blipFill>
        <p:spPr>
          <a:xfrm>
            <a:off x="20" y="10"/>
            <a:ext cx="7734280" cy="6399142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935142-FBD0-4483-A8AD-8A8B50AB54C5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311896" y="3099816"/>
            <a:ext cx="3273552" cy="295351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 b="1"/>
              <a:t>Causes of Resistance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/>
              <a:t>Resistance stems from comfort with current processes and fear of unknown changes.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 b="1"/>
              <a:t>Fear and Authority Threats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/>
              <a:t>Fear of the unknown and perceived threats to authority fuel organizational resistance.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 b="1"/>
              <a:t>Overcoming Resistance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/>
              <a:t>Leadership commitment and clear communication of benefits help overcome resistance.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5C6F3-CC66-CFE7-1A4F-488FC0023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677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17C32-89CB-7E01-D985-CFDCF18C0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500" b="0" kern="1200" cap="all" baseline="0">
                <a:latin typeface="+mj-lt"/>
                <a:ea typeface="+mj-ea"/>
                <a:cs typeface="+mj-cs"/>
              </a:rPr>
              <a:t>Fear of Retribution and Lack of Psychological Safety</a:t>
            </a:r>
          </a:p>
        </p:txBody>
      </p:sp>
      <p:pic>
        <p:nvPicPr>
          <p:cNvPr id="7" name="Content Placeholder 6" descr="&quot;The boss is annoyed with two of her employees.For more business images, please click here:&quot;">
            <a:extLst>
              <a:ext uri="{FF2B5EF4-FFF2-40B4-BE49-F238E27FC236}">
                <a16:creationId xmlns:a16="http://schemas.microsoft.com/office/drawing/2014/main" id="{B7203860-99C6-4584-946B-B7BE9BE0287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31179" r="188" b="2"/>
          <a:stretch>
            <a:fillRect/>
          </a:stretch>
        </p:blipFill>
        <p:spPr>
          <a:xfrm>
            <a:off x="20" y="1"/>
            <a:ext cx="6591280" cy="6410303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D4C12D-1BE9-4E02-B04C-8D42E1BE035C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196328" y="2276856"/>
            <a:ext cx="4389120" cy="404164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Fear Inhibits Reporting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Fear of punishment prevents employees from reporting mistakes, risking repeated errors and safety issues.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Importance of Psychological Safety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Psychological safety encourages open communication and transparency, fostering a supportive learning environment.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E0C78-0C4C-7B3F-95FB-C2583F0A3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842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9E80C-4173-0F24-FBBB-A6A46137D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700" b="0" kern="1200" cap="all" baseline="0">
                <a:latin typeface="+mj-lt"/>
                <a:ea typeface="+mj-ea"/>
                <a:cs typeface="+mj-cs"/>
              </a:rPr>
              <a:t>Communication Gaps and Hierarchical Structures</a:t>
            </a:r>
          </a:p>
        </p:txBody>
      </p:sp>
      <p:pic>
        <p:nvPicPr>
          <p:cNvPr id="7" name="Content Placeholder 6" descr="File folder big data internet network cloud computing">
            <a:extLst>
              <a:ext uri="{FF2B5EF4-FFF2-40B4-BE49-F238E27FC236}">
                <a16:creationId xmlns:a16="http://schemas.microsoft.com/office/drawing/2014/main" id="{971FA92B-964B-42BF-B50A-7831399A0E7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11857" r="12604" b="2"/>
          <a:stretch>
            <a:fillRect/>
          </a:stretch>
        </p:blipFill>
        <p:spPr>
          <a:xfrm>
            <a:off x="20" y="10"/>
            <a:ext cx="7734280" cy="6399142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86941E-D240-4EBD-AF2D-2C79FA04BD9D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311896" y="3099816"/>
            <a:ext cx="3273552" cy="295351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 b="1"/>
              <a:t>Impact of Rigid Hierarchies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/>
              <a:t>Rigid hierarchies can block information flow and limit open discussions about errors in organizations.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 b="1"/>
              <a:t>Importance of Communication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/>
              <a:t>Effective communication channels encourage transparency and foster problem-solving in teams.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 b="1"/>
              <a:t>Flattening Structures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/>
              <a:t>Flattening organizational structures helps improve information flow and supports collaborative environments.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12C9F-72FC-3802-977F-E98814568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254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4545A-ED3E-7A4A-D03D-669F74163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kern="1200" cap="all" baseline="0">
                <a:latin typeface="+mj-lt"/>
                <a:ea typeface="+mj-ea"/>
                <a:cs typeface="+mj-cs"/>
              </a:rPr>
              <a:t>Strategies to Overcome Barriers</a:t>
            </a:r>
          </a:p>
        </p:txBody>
      </p:sp>
      <p:pic>
        <p:nvPicPr>
          <p:cNvPr id="7" name="Content Placeholder 6" descr="3d concept to show a choice of progress.">
            <a:extLst>
              <a:ext uri="{FF2B5EF4-FFF2-40B4-BE49-F238E27FC236}">
                <a16:creationId xmlns:a16="http://schemas.microsoft.com/office/drawing/2014/main" id="{35F253F4-6CA9-405A-BD90-72BAC4B4FF4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2684" r="11344" b="2"/>
          <a:stretch>
            <a:fillRect/>
          </a:stretch>
        </p:blipFill>
        <p:spPr>
          <a:xfrm>
            <a:off x="20" y="2293496"/>
            <a:ext cx="5285212" cy="4564504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F3734D-DBC1-4A5A-97EF-7A1421E5C61F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6000" y="549275"/>
            <a:ext cx="5585925" cy="57832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Leadership Modeling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Leaders demonstrate Just Culture behaviors to set a positive example within the organization.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Training and Education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Providing staff with training improves understanding and application of Just Culture principles.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Clear Policies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Establishing clear policies guides consistent behavior and expectations across the organization.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Encouraging Communication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Open communication channels foster trust and psychological safety among team members.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CA91C-D83F-C132-B7A0-868984C3D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7687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8AF98-36FD-7FBE-C8F7-67E71DBF3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/>
          <a:p>
            <a:r>
              <a:rPr lang="en-US"/>
              <a:t>Conclusion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B757111B-A954-4C77-3EC7-9D7DE6FA1483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936666036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429768" y="3622673"/>
          <a:ext cx="8430768" cy="18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2A8E9-DD3D-D05D-3873-C84CDA23E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37926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00D46B-4C35-E65C-61AB-25FCE451F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82E2B-9B6C-F17F-8F28-CEFD910B0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0"/>
            <a:ext cx="8430768" cy="1842020"/>
          </a:xfrm>
        </p:spPr>
        <p:txBody>
          <a:bodyPr anchor="b">
            <a:normAutofit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27348-CE74-9A63-D48B-EEACB3A9D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261808-4545-CD86-96BC-E058773070E4}"/>
              </a:ext>
            </a:extLst>
          </p:cNvPr>
          <p:cNvGrpSpPr/>
          <p:nvPr/>
        </p:nvGrpSpPr>
        <p:grpSpPr>
          <a:xfrm>
            <a:off x="399681" y="1027036"/>
            <a:ext cx="9840463" cy="4368375"/>
            <a:chOff x="-686936" y="0"/>
            <a:chExt cx="9840463" cy="436837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7977AC-6982-8450-7C74-E38D4DCEF10A}"/>
                </a:ext>
              </a:extLst>
            </p:cNvPr>
            <p:cNvSpPr/>
            <p:nvPr/>
          </p:nvSpPr>
          <p:spPr>
            <a:xfrm>
              <a:off x="0" y="0"/>
              <a:ext cx="9153527" cy="3377459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A893974-7EF7-4DEF-09F6-444CBD64C5AA}"/>
                </a:ext>
              </a:extLst>
            </p:cNvPr>
            <p:cNvSpPr txBox="1"/>
            <p:nvPr/>
          </p:nvSpPr>
          <p:spPr>
            <a:xfrm>
              <a:off x="-686936" y="990916"/>
              <a:ext cx="9153527" cy="337745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7780" rIns="17780" bIns="17780" numCol="1" spcCol="1270" anchor="t" anchorCtr="0">
              <a:noAutofit/>
            </a:bodyPr>
            <a:lstStyle/>
            <a:p>
              <a:pPr marL="457200" indent="-457200"/>
              <a:r>
                <a:rPr lang="en-US" sz="1200" dirty="0"/>
                <a:t>ASHP. (n.d.). </a:t>
              </a:r>
              <a:r>
                <a:rPr lang="en-US" sz="1200" i="1" dirty="0"/>
                <a:t>Just Culture Toolkit</a:t>
              </a:r>
              <a:r>
                <a:rPr lang="en-US" sz="1200" dirty="0"/>
                <a:t>. https://www.ashp.org/-/media/assets/pharmacy-practice/resource-centers/patient-safety/Just-Culture-Toolkit_-Final.pdf</a:t>
              </a:r>
            </a:p>
            <a:p>
              <a:pPr marL="457200" indent="-457200"/>
              <a:r>
                <a:rPr lang="en-US" sz="1200" dirty="0"/>
                <a:t>Health Quality Alberta. (n.d.). </a:t>
              </a:r>
              <a:r>
                <a:rPr lang="en-US" sz="1200" i="1" dirty="0"/>
                <a:t>Overcoming barriers to a just culture</a:t>
              </a:r>
              <a:r>
                <a:rPr lang="en-US" sz="1200" dirty="0"/>
                <a:t>. https://justculture.hqa.ca/overcoming-barriers-to-a-just-culture/</a:t>
              </a:r>
            </a:p>
            <a:p>
              <a:pPr marL="457200" indent="-457200"/>
              <a:r>
                <a:rPr lang="en-US" sz="1200" dirty="0"/>
                <a:t>Humanistic Systems. (2023, October 18). </a:t>
              </a:r>
              <a:r>
                <a:rPr lang="en-US" sz="1200" i="1" dirty="0"/>
                <a:t>Why is it just so difficult? Barriers to ‘Just Culture’ in the real world</a:t>
              </a:r>
              <a:r>
                <a:rPr lang="en-US" sz="1200" dirty="0"/>
                <a:t>. https://humanisticsystems.com/2023/10/18/why-is-it-just-so-difficult-barriers-to-just-culture-in-the-real-world/</a:t>
              </a:r>
            </a:p>
            <a:p>
              <a:pPr marL="457200" indent="-457200"/>
              <a:r>
                <a:rPr lang="en-US" sz="1200" dirty="0"/>
                <a:t>Just Culture in Health Care. (n.d.). </a:t>
              </a:r>
              <a:r>
                <a:rPr lang="en-US" sz="1200" i="1" dirty="0"/>
                <a:t>Defining just culture</a:t>
              </a:r>
              <a:r>
                <a:rPr lang="en-US" sz="1200" dirty="0"/>
                <a:t>. https://www.justculture.healthcare/defining-just-culture/</a:t>
              </a:r>
            </a:p>
            <a:p>
              <a:pPr marL="457200" indent="-457200"/>
              <a:r>
                <a:rPr lang="en-US" sz="1200" dirty="0"/>
                <a:t>Medical Professional Liability Association. (2025). </a:t>
              </a:r>
              <a:r>
                <a:rPr lang="en-US" sz="1200" i="1" dirty="0"/>
                <a:t>Medical malpractice versus just culture</a:t>
              </a:r>
              <a:r>
                <a:rPr lang="en-US" sz="1200" dirty="0"/>
                <a:t>. https://www.mplassociation.org/Web/Publications/Inside_Medical_Liability/Issues/2025/Spring/Medical_Malpractice_Versus_Just_Culture.aspx</a:t>
              </a:r>
            </a:p>
            <a:p>
              <a:pPr marL="457200" indent="-457200"/>
              <a:r>
                <a:rPr lang="en-US" sz="1200" dirty="0"/>
                <a:t>Murray, J. S., Clifford, J., Larson, S., Lee, J., &amp; </a:t>
              </a:r>
              <a:r>
                <a:rPr lang="en-US" sz="1200" dirty="0" err="1"/>
                <a:t>Sculli</a:t>
              </a:r>
              <a:r>
                <a:rPr lang="en-US" sz="1200" dirty="0"/>
                <a:t>, G. L. (2022). Implementing just culture to improve patient safety. </a:t>
              </a:r>
              <a:r>
                <a:rPr lang="en-US" sz="1200" i="1" dirty="0"/>
                <a:t>Military Medicine, 188</a:t>
              </a:r>
              <a:r>
                <a:rPr lang="en-US" sz="1200" dirty="0"/>
                <a:t>(7–8), 1596–1599. https://doi.org/10.1093/milmed/usac115</a:t>
              </a:r>
            </a:p>
            <a:p>
              <a:pPr marL="457200" indent="-457200"/>
              <a:r>
                <a:rPr lang="en-US" sz="1200" dirty="0" err="1"/>
                <a:t>NurseLeader</a:t>
              </a:r>
              <a:r>
                <a:rPr lang="en-US" sz="1200" dirty="0"/>
                <a:t>. (2022). </a:t>
              </a:r>
              <a:r>
                <a:rPr lang="en-US" sz="1200" i="1" dirty="0"/>
                <a:t>To Err Is Human, Just Culture, Practice, and Liability</a:t>
              </a:r>
              <a:r>
                <a:rPr lang="en-US" sz="1200" dirty="0"/>
                <a:t>. https://www.nurseleader.com/article/S1541-4612(22)00149-5/fulltext</a:t>
              </a:r>
            </a:p>
            <a:p>
              <a:pPr marL="457200" indent="-457200"/>
              <a:r>
                <a:rPr lang="en-US" sz="1200" dirty="0"/>
                <a:t>Page, A. H. (2007). </a:t>
              </a:r>
              <a:r>
                <a:rPr lang="en-US" sz="1200" i="1" dirty="0"/>
                <a:t>Making just culture a reality: One organization’s approach</a:t>
              </a:r>
              <a:r>
                <a:rPr lang="en-US" sz="1200" dirty="0"/>
                <a:t>. AHRQ </a:t>
              </a:r>
              <a:r>
                <a:rPr lang="en-US" sz="1200" dirty="0" err="1"/>
                <a:t>PSNet</a:t>
              </a:r>
              <a:r>
                <a:rPr lang="en-US" sz="1200" dirty="0"/>
                <a:t>. https://psnet.ahrq.gov/perspective/making-just-culture-reality-one-organizations-approach</a:t>
              </a:r>
            </a:p>
            <a:p>
              <a:pPr marL="457200" indent="-457200"/>
              <a:r>
                <a:rPr lang="en-US" sz="1200" dirty="0"/>
                <a:t>Tasker, A., Jones, J., &amp; Brake, S. (2023). How effectively has a Just Culture been adopted? </a:t>
              </a:r>
              <a:r>
                <a:rPr lang="en-US" sz="1200" i="1" dirty="0"/>
                <a:t>BMJ Open Quality, 12</a:t>
              </a:r>
              <a:r>
                <a:rPr lang="en-US" sz="1200" dirty="0"/>
                <a:t>, e002049. https://bmjopenquality.bmj.com/content/12/1/e002049</a:t>
              </a:r>
            </a:p>
            <a:p>
              <a:pPr marL="457200" lvl="0" indent="-457200" algn="l" defTabSz="6223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400" b="0" kern="1200" dirty="0"/>
            </a:p>
            <a:p>
              <a:pPr marL="457200" lvl="0" indent="-457200" algn="l" defTabSz="6223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400" b="0" kern="1200" dirty="0"/>
            </a:p>
            <a:p>
              <a:pPr marL="457200" lvl="0" indent="-457200" algn="l" defTabSz="6223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b="0" kern="1200" dirty="0"/>
                <a:t>(no attribution required for Microsoft 365 stock image gallery images)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740129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18894</TotalTime>
  <Words>840</Words>
  <Application>Microsoft Office PowerPoint</Application>
  <PresentationFormat>Widescreen</PresentationFormat>
  <Paragraphs>94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Neue Haas Grotesk Text Pro</vt:lpstr>
      <vt:lpstr>OasisVTI</vt:lpstr>
      <vt:lpstr>Overcoming Barriers to Implementing a Just, Learning Culture</vt:lpstr>
      <vt:lpstr>Introduction to Just, Learning Culture</vt:lpstr>
      <vt:lpstr>Defining 'Just Culture' And Its Importance</vt:lpstr>
      <vt:lpstr>Common Barriers to Implementation</vt:lpstr>
      <vt:lpstr>Organizational Resistance to Change</vt:lpstr>
      <vt:lpstr>Fear of Retribution and Lack of Psychological Safety</vt:lpstr>
      <vt:lpstr>Communication Gaps and Hierarchical Structures</vt:lpstr>
      <vt:lpstr>Strategies to Overcome Barriers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Wedergren</dc:creator>
  <cp:lastModifiedBy>Amanda Wedergren</cp:lastModifiedBy>
  <cp:revision>4</cp:revision>
  <dcterms:created xsi:type="dcterms:W3CDTF">2025-11-23T13:39:37Z</dcterms:created>
  <dcterms:modified xsi:type="dcterms:W3CDTF">2025-12-06T18:55:22Z</dcterms:modified>
</cp:coreProperties>
</file>